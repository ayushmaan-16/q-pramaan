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3c17c4fff244c7" /><Relationship Type="http://schemas.openxmlformats.org/officeDocument/2006/relationships/extended-properties" Target="/docProps/app.xml" Id="R121343996cd04d9c" /><Relationship Type="http://schemas.openxmlformats.org/officeDocument/2006/relationships/officeDocument" Target="/ppt/presentation.xml" Id="R0e3f58df15a041fb" /></Relationships>
</file>

<file path=ppt/presentation.xml><?xml version="1.0" encoding="utf-8"?>
<p:presentation xmlns:p="http://schemas.openxmlformats.org/presentationml/2006/main">
  <p:sldMasterIdLst>
    <p:sldMasterId xmlns:r="http://schemas.openxmlformats.org/officeDocument/2006/relationships" id="2147483648" r:id="R09a2a59bd4364a92"/>
  </p:sldMasterIdLst>
  <p:notesMasterIdLst>
    <p:notesMasterId xmlns:r="http://schemas.openxmlformats.org/officeDocument/2006/relationships" r:id="Rfb5aaa53c95e49e3"/>
  </p:notesMasterIdLst>
  <p:sldIdLst>
    <p:sldId xmlns:r="http://schemas.openxmlformats.org/officeDocument/2006/relationships" id="256" r:id="R2db7dc241b394908"/>
    <p:sldId xmlns:r="http://schemas.openxmlformats.org/officeDocument/2006/relationships" id="257" r:id="R203f7e5c676f4382"/>
    <p:sldId xmlns:r="http://schemas.openxmlformats.org/officeDocument/2006/relationships" id="258" r:id="Rf29ce0dccd774f87"/>
    <p:sldId xmlns:r="http://schemas.openxmlformats.org/officeDocument/2006/relationships" id="259" r:id="R085eef776c444f96"/>
    <p:sldId xmlns:r="http://schemas.openxmlformats.org/officeDocument/2006/relationships" id="260" r:id="R8a38ece61cee41a4"/>
    <p:sldId xmlns:r="http://schemas.openxmlformats.org/officeDocument/2006/relationships" id="261" r:id="Rc8a952d73bd141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f57b45ad2cc4199" /><Relationship Type="http://schemas.openxmlformats.org/officeDocument/2006/relationships/slideMaster" Target="/ppt/slideMasters/slideMaster1.xml" Id="R09a2a59bd4364a92" /><Relationship Type="http://schemas.openxmlformats.org/officeDocument/2006/relationships/notesMaster" Target="/ppt/notesMasters/notesMaster1.xml" Id="Rfb5aaa53c95e49e3" /><Relationship Type="http://schemas.openxmlformats.org/officeDocument/2006/relationships/presProps" Target="/ppt/presProps.xml" Id="R1a50a3d7280f49b5" /><Relationship Type="http://schemas.openxmlformats.org/officeDocument/2006/relationships/viewProps" Target="/ppt/viewProps.xml" Id="R84d51a84b24a4f86" /><Relationship Type="http://schemas.openxmlformats.org/officeDocument/2006/relationships/tableStyles" Target="/ppt/tableStyles.xml" Id="R5dd0c7e7157e44df" /><Relationship Type="http://schemas.openxmlformats.org/officeDocument/2006/relationships/slide" Target="/ppt/slides/slide1.xml" Id="R2db7dc241b394908" /><Relationship Type="http://schemas.openxmlformats.org/officeDocument/2006/relationships/slide" Target="/ppt/slides/slide2.xml" Id="R203f7e5c676f4382" /><Relationship Type="http://schemas.openxmlformats.org/officeDocument/2006/relationships/slide" Target="/ppt/slides/slide3.xml" Id="Rf29ce0dccd774f87" /><Relationship Type="http://schemas.openxmlformats.org/officeDocument/2006/relationships/slide" Target="/ppt/slides/slide4.xml" Id="R085eef776c444f96" /><Relationship Type="http://schemas.openxmlformats.org/officeDocument/2006/relationships/slide" Target="/ppt/slides/slide5.xml" Id="R8a38ece61cee41a4" /><Relationship Type="http://schemas.openxmlformats.org/officeDocument/2006/relationships/slide" Target="/ppt/slides/slide6.xml" Id="Rc8a952d73bd141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be9ccc0d9a45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7b0439db934d01" /><Relationship Type="http://schemas.openxmlformats.org/officeDocument/2006/relationships/notesMaster" Target="/ppt/notesMasters/notesMaster1.xml" Id="R0c7616a86d6547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817288d00c47cb" /><Relationship Type="http://schemas.openxmlformats.org/officeDocument/2006/relationships/notesMaster" Target="/ppt/notesMasters/notesMaster1.xml" Id="R1d748523e96740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7e0cd8d07745ad" /><Relationship Type="http://schemas.openxmlformats.org/officeDocument/2006/relationships/notesMaster" Target="/ppt/notesMasters/notesMaster1.xml" Id="Rf78f397b698342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3edd1be42048ec" /><Relationship Type="http://schemas.openxmlformats.org/officeDocument/2006/relationships/notesMaster" Target="/ppt/notesMasters/notesMaster1.xml" Id="R1030d1ae950e44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0b7c2134df469d" /><Relationship Type="http://schemas.openxmlformats.org/officeDocument/2006/relationships/notesMaster" Target="/ppt/notesMasters/notesMaster1.xml" Id="R5f2786e220f340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153e6296354780" /><Relationship Type="http://schemas.openxmlformats.org/officeDocument/2006/relationships/notesMaster" Target="/ppt/notesMasters/notesMaster1.xml" Id="Rb08dc66949714a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Q-PRAMAAN is a software simulation and security-assurance framework for a teleportation-assisted adaptation of the BB84 P1-prime quantum digital signature workflow. Problem Statement ID SIH26141 cross-checked against public SIH statement listings for the exact title and Egreen Quanta.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Results from output/benchmark.json, seed 26141, 20,000 independent batches per condition, 2,048 matched-basis observations per Bell outcome, known 2% baseline, 1% family false-alarm budget. Ordinary and targeted scenarios have the same expected pooled error. The detector identifies a statistical deviation, not attacker intent.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Teleportation correctness checks all 24 combinations of six Pauli eigenstates and four Bell outcomes. Four BB84 states serve the signature protocol; all six are diagnostic probes. References: IBM Quantum teleportation tutorial; Wallden et al., arXiv:1403.5551. The teleportation-assisted P1-prime implementation is an adaptation, so the source proof does not automatically extend to its new conditions.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Benchmark source: output/benchmark.json. Values are finite-sample simulation results, not a claim of physical deployment or a security proof. Wilson 95% interval for 19,967/20,000 approximately 99.77%-99.88%; zero forgeries in 200 trials does not establish zero forgery probability. Full detector uses Bonferroni allocation over 20 Hoeffding tests. Standalone pooled comparator gets the entire 1% allowance.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are for a software research and assurance environment. The framework is not demonstrated on physical quantum hardware. Information-theoretic security is conditional on the selected protocol and its device, randomness, channel and classical authentication assumptions. The service can control requests to its own verification records, not information already disclosed to a recipient.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Wallden et al.: https://arxiv.org/abs/1403.5551</a:t>
            </a:r>
            <a:endParaRPr/>
          </a:p>
          <a:p xmlns:a="http://schemas.openxmlformats.org/drawingml/2006/main">
            <a:pPr>
              <a:spcBef>
                <a:spcPct val="0"/>
              </a:spcBef>
              <a:buNone/>
            </a:pPr>
            <a:r>
              <a:t>Gottesman and Chuang: https://arxiv.org/abs/quant-ph/0105032</a:t>
            </a:r>
            <a:endParaRPr/>
          </a:p>
          <a:p xmlns:a="http://schemas.openxmlformats.org/drawingml/2006/main">
            <a:pPr>
              <a:spcBef>
                <a:spcPct val="0"/>
              </a:spcBef>
              <a:buNone/>
            </a:pPr>
            <a:r>
              <a:t>Nadeem and Wang: https://arxiv.org/abs/1507.03581</a:t>
            </a:r>
            <a:endParaRPr/>
          </a:p>
          <a:p xmlns:a="http://schemas.openxmlformats.org/drawingml/2006/main">
            <a:pPr>
              <a:spcBef>
                <a:spcPct val="0"/>
              </a:spcBef>
              <a:buNone/>
            </a:pPr>
            <a:r>
              <a:t>IBM: https://quantum.cloud.ibm.com/learning/en/courses/basics-of-quantum-information/entanglement-in-action/quantum-teleportation</a:t>
            </a:r>
            <a:endParaRPr/>
          </a:p>
          <a:p xmlns:a="http://schemas.openxmlformats.org/drawingml/2006/main">
            <a:pPr>
              <a:spcBef>
                <a:spcPct val="0"/>
              </a:spcBef>
              <a:buNone/>
            </a:pPr>
            <a:r>
              <a:t>Eagle-Eye QDS: https://pypi.org/project/eagle-eye-qds/</a:t>
            </a:r>
            <a:endParaRPr/>
          </a:p>
          <a:p xmlns:a="http://schemas.openxmlformats.org/drawingml/2006/main">
            <a:pPr>
              <a:spcBef>
                <a:spcPct val="0"/>
              </a:spcBef>
              <a:buNone/>
            </a:pPr>
            <a:r>
              <a:t>Benchmark details are in the local reproducible artifact output/benchmark.json. The reference protocol guarantees are conditional and not transferred wholesale to the teleportation-assisted adaptation.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537f39d67d4d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f000f3af854a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9b24b8cc6d49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2bf95afbce41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8c9f8a7e7e4c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d9284b38364ec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47002b42be34eb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27c1721843b4e3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5f9a64ecb4d479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e8ed2de7a924e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23ad037cc24408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A640F4-5570-4D60-A6E0-AE7BF8B08DF0}"/>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5094699-C059-41EF-8459-43A40F8AFCA7}"/>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21C7CF7-5311-49DC-83E2-C278E08DEC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0821B0D-0CFF-44D3-9CD3-FD203D3E2E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DF7DE23-D0D9-42D5-8C48-8E7BDD867B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53E31B-61E2-4B51-BD83-99939B104E3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6199DBE-2F6C-4C33-92F3-71B54C65B32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A020D99-6C9E-4DF0-A355-1C735823DD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7F14C4C1-E88C-41FB-BC9E-5C2D71997C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AB932A3-31CF-41B7-97F5-06B5199796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C112CE-9A50-4752-9A88-0014ABB1709C}"/>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5091CDB-E246-4AC9-9295-D4645E100A96}"/>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8D1AA986-4E36-415E-8CEF-AB688C65C5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6C4E33ED-A53F-4301-A28B-AD8CEBD784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29B43D7-ACE4-4152-86B3-BE9414CCA5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460411-0470-4B39-81D8-A4A8A169AA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27F8DF9-FF77-4F4E-91FB-F3B95504F247}"/>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BD57BD50-4C32-4798-91F7-D06A4960A248}"/>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04BBF970-2F38-4F97-8F17-715CCE3786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E39AEDB1-8559-4AB5-BBCF-05CEA2D364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ABE754F0-CB49-4500-BB4D-971F8307B1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E9EED3-F69D-4233-B0CF-3F6749C194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6ADE912-3918-4035-B1A5-2D73A4C40D2B}"/>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AB1114B-966F-4993-91C2-142F79D33BCB}"/>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B87AE8E-334F-4802-B0F1-AF421CB72F99}"/>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7DF5FDC-655F-46C0-9C91-3D41C841D8C3}"/>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976BD0EB-649A-49CB-9EE2-E75D424083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5A58D1F3-CE04-49A6-BF9C-67E248801D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8E9B1223-7437-4786-8CE1-4EB2D9B6CF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BF9AF9-9638-437E-A374-43415F8F7C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F97DB55F-A30B-450A-B13D-9B1C247F11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7BA62357-89D1-4C92-B444-A8D8BAE817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EC73DC1C-61ED-4FE9-B67F-DA00CD3DD8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D26BADE9-45F0-4E9F-800B-7B46F755B6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6314B65E-E6E2-4F35-84C7-3983EFED3A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078364B9-DAE7-49C5-891E-D05F4755D4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167226-BE20-4222-9EDF-5005874CFA9B}"/>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EA16FDA-4A60-45C7-9430-2DD29AB05DFC}"/>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A6966E6-1160-4BDB-8870-4AA201ECFD0B}"/>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A97094E7-FA74-4F15-8EF6-D018D22DBC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0A6E1564-BCC9-4DB1-8D47-621E5CE699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36CE3FEF-552E-4084-B1CB-5EB215BB48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48D8B7-D4BF-4844-9F98-875B09B482E3}"/>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779556E-CF9D-4F08-9C85-58738DCD1DF5}"/>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1D2E23D9-109C-4ED2-B1B0-6E1EE00EDE03}"/>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D86D885F-2667-4D21-AAD8-B6295AD627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A6823CDE-3507-4EA3-B158-E826FD27EB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CC98907-CA08-4539-82FA-E3F341570B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40D982-0E36-4739-8EAA-1F72FB66B59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5AD4B78-3891-48D6-B4A7-914E992D277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7321C2A-ECF9-40FB-88FE-BEF01EBB59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208A8E6D-0A6F-444D-9463-906A82F84E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BC0FB32-9AEF-41F8-9F9F-1338894063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77A46A8-1CE0-4864-96A0-ABFBEF985EDA}"/>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799C357-F28F-4F58-BFAB-2E33E8F9875A}"/>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AAA56C0-580E-4B52-8E4F-BDB9402687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1F6B52EA-866E-470B-8300-223CC9750B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906015E-5338-4CAB-B340-03E8F6804E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97d77634c449f2" /><Relationship Type="http://schemas.openxmlformats.org/officeDocument/2006/relationships/slideLayout" Target="/ppt/slideLayouts/slideLayout1.xml" Id="Re9556b2273b149b1" /><Relationship Type="http://schemas.openxmlformats.org/officeDocument/2006/relationships/slideLayout" Target="/ppt/slideLayouts/slideLayout2.xml" Id="R430d5fdea4a84b15" /><Relationship Type="http://schemas.openxmlformats.org/officeDocument/2006/relationships/slideLayout" Target="/ppt/slideLayouts/slideLayout3.xml" Id="Rd3edc3ffb5a2480f" /><Relationship Type="http://schemas.openxmlformats.org/officeDocument/2006/relationships/slideLayout" Target="/ppt/slideLayouts/slideLayout4.xml" Id="Racc0ba61cd9b4350" /><Relationship Type="http://schemas.openxmlformats.org/officeDocument/2006/relationships/slideLayout" Target="/ppt/slideLayouts/slideLayout5.xml" Id="R72046ae91ef8483a" /><Relationship Type="http://schemas.openxmlformats.org/officeDocument/2006/relationships/slideLayout" Target="/ppt/slideLayouts/slideLayout6.xml" Id="R9811d93d73084534" /><Relationship Type="http://schemas.openxmlformats.org/officeDocument/2006/relationships/slideLayout" Target="/ppt/slideLayouts/slideLayout7.xml" Id="Re2c7bd424bb74619" /><Relationship Type="http://schemas.openxmlformats.org/officeDocument/2006/relationships/slideLayout" Target="/ppt/slideLayouts/slideLayout8.xml" Id="R4677c742e96c4cbf" /><Relationship Type="http://schemas.openxmlformats.org/officeDocument/2006/relationships/slideLayout" Target="/ppt/slideLayouts/slideLayout9.xml" Id="R45b4462f0c594cb6" /><Relationship Type="http://schemas.openxmlformats.org/officeDocument/2006/relationships/slideLayout" Target="/ppt/slideLayouts/slideLayout10.xml" Id="R46e9d068ea724b68" /><Relationship Type="http://schemas.openxmlformats.org/officeDocument/2006/relationships/slideLayout" Target="/ppt/slideLayouts/slideLayout11.xml" Id="R87d199a442b24ba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FC3C8B9F-20D7-4390-AEEC-B39B0B4B891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42A528F9-B2F6-4371-B0E9-0156A60AE173}"/>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F4EABE2-63A7-42DF-86BF-EF53A9ABC01D}"/>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9268A57-FE2E-48F2-968A-27B5E577E936}"/>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5CDD7C7-8451-4C03-B5A9-380FC24A9705}"/>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556b2273b149b1"/>
    <p:sldLayoutId xmlns:r="http://schemas.openxmlformats.org/officeDocument/2006/relationships" id="2147483650" r:id="R430d5fdea4a84b15"/>
    <p:sldLayoutId xmlns:r="http://schemas.openxmlformats.org/officeDocument/2006/relationships" id="2147483651" r:id="Rd3edc3ffb5a2480f"/>
    <p:sldLayoutId xmlns:r="http://schemas.openxmlformats.org/officeDocument/2006/relationships" id="2147483652" r:id="Racc0ba61cd9b4350"/>
    <p:sldLayoutId xmlns:r="http://schemas.openxmlformats.org/officeDocument/2006/relationships" id="2147483653" r:id="R72046ae91ef8483a"/>
    <p:sldLayoutId xmlns:r="http://schemas.openxmlformats.org/officeDocument/2006/relationships" id="2147483654" r:id="R9811d93d73084534"/>
    <p:sldLayoutId xmlns:r="http://schemas.openxmlformats.org/officeDocument/2006/relationships" id="2147483655" r:id="Re2c7bd424bb74619"/>
    <p:sldLayoutId xmlns:r="http://schemas.openxmlformats.org/officeDocument/2006/relationships" id="2147483656" r:id="R4677c742e96c4cbf"/>
    <p:sldLayoutId xmlns:r="http://schemas.openxmlformats.org/officeDocument/2006/relationships" id="2147483657" r:id="R45b4462f0c594cb6"/>
    <p:sldLayoutId xmlns:r="http://schemas.openxmlformats.org/officeDocument/2006/relationships" id="2147483658" r:id="R46e9d068ea724b68"/>
    <p:sldLayoutId xmlns:r="http://schemas.openxmlformats.org/officeDocument/2006/relationships" id="2147483659" r:id="R87d199a442b24ba9"/>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48a916abc643a1" /><Relationship Type="http://schemas.openxmlformats.org/officeDocument/2006/relationships/image" Target="/ppt/media/image.png" Id="Ra637d469c3d042ed" /><Relationship Type="http://schemas.openxmlformats.org/officeDocument/2006/relationships/image" Target="/ppt/media/image2.png" Id="Rda860f2c12b840eb" /><Relationship Type="http://schemas.openxmlformats.org/officeDocument/2006/relationships/notesSlide" Target="/ppt/notesSlides/notesSlide1.xml" Id="R287572bc23b44c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d6bfd8d25a149c2" /><Relationship Type="http://schemas.openxmlformats.org/officeDocument/2006/relationships/image" Target="/ppt/media/image2.png" Id="Reb93d9036bed4886" /><Relationship Type="http://schemas.openxmlformats.org/officeDocument/2006/relationships/notesSlide" Target="/ppt/notesSlides/notesSlide2.xml" Id="Rc6f56c50b6e545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8276d8346e14f83" /><Relationship Type="http://schemas.openxmlformats.org/officeDocument/2006/relationships/image" Target="/ppt/media/image2.png" Id="R38f190e9310340de" /><Relationship Type="http://schemas.openxmlformats.org/officeDocument/2006/relationships/notesSlide" Target="/ppt/notesSlides/notesSlide3.xml" Id="R8780b30358c444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6a8aa829ca744e7" /><Relationship Type="http://schemas.openxmlformats.org/officeDocument/2006/relationships/image" Target="/ppt/media/image2.png" Id="R021f95f2bd424197" /><Relationship Type="http://schemas.openxmlformats.org/officeDocument/2006/relationships/notesSlide" Target="/ppt/notesSlides/notesSlide4.xml" Id="Radb5a27bf34c41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fe98ca4612648ba" /><Relationship Type="http://schemas.openxmlformats.org/officeDocument/2006/relationships/image" Target="/ppt/media/image2.png" Id="R73b418c4a5ff4513" /><Relationship Type="http://schemas.openxmlformats.org/officeDocument/2006/relationships/notesSlide" Target="/ppt/notesSlides/notesSlide5.xml" Id="R0d88e94b32694a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a4a359ddb094b49" /><Relationship Type="http://schemas.openxmlformats.org/officeDocument/2006/relationships/image" Target="/ppt/media/image2.png" Id="Rcb19771416a647bd" /><Relationship Type="http://schemas.openxmlformats.org/officeDocument/2006/relationships/notesSlide" Target="/ppt/notesSlides/notesSlide6.xml" Id="R389f0565151445f3"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a637d469c3d042ed"/>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09A3FD8C-8D51-4C29-A81E-4D6C280C02B8}"/>
              </a:ext>
            </a:extLst>
          </p:cNvPr>
          <p:cNvSpPr>
            <a:spLocks xmlns:a="http://schemas.openxmlformats.org/drawingml/2006/main" noGrp="1"/>
          </p:cNvSpPr>
          <p:nvPr>
            <p:ph type="subTitle" idx="1"/>
          </p:nvPr>
        </p:nvSpPr>
        <p:spPr>
          <a:xfrm xmlns:a="http://schemas.openxmlformats.org/drawingml/2006/main">
            <a:off x="1245686" y="648614"/>
            <a:ext cx="8534400" cy="1752600"/>
          </a:xfrm>
        </p:spPr>
        <p:txBody>
          <a:bodyPr xmlns:a="http://schemas.openxmlformats.org/drawingml/2006/main"/>
          <a:lstStyle xmlns:a="http://schemas.openxmlformats.org/drawingml/2006/main"/>
          <a:p xmlns:a="http://schemas.openxmlformats.org/drawingml/2006/main">
            <a:pPr algn="ctr">
              <a:defRPr sz="3450" b="1">
                <a:solidFill>
                  <a:srgbClr val="666666"/>
                </a:solidFill>
                <a:latin typeface="Times New Roman"/>
                <a:ea typeface="Times New Roman"/>
                <a:cs typeface="Times New Roman"/>
              </a:defRPr>
            </a:pPr>
            <a:r>
              <a:rPr sz="3450" b="1">
                <a:solidFill>
                  <a:srgbClr val="666666"/>
                </a:solidFill>
                <a:latin typeface="Times New Roman"/>
                <a:ea typeface="Times New Roman"/>
                <a:cs typeface="Times New Roman"/>
              </a:rPr>
              <a:t>Q-PRAMAAN</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FB52A567-4028-4CC8-ADE2-EAFDCB16A1E2}"/>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pic>
        <p:nvPicPr>
          <p:cNvPr id="59" name="Picture 1"/>
          <p:cNvPicPr>
            <a:picLocks xmlns:a="http://schemas.openxmlformats.org/drawingml/2006/main" noChangeAspect="1"/>
          </p:cNvPicPr>
          <p:nvPr/>
        </p:nvPicPr>
        <p:blipFill>
          <a:blip xmlns:r="http://schemas.openxmlformats.org/officeDocument/2006/relationships" xmlns:a="http://schemas.openxmlformats.org/drawingml/2006/main" r:embed="Rda860f2c12b840e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1DCFFECA-03D6-4A76-810A-E0B7935E62A2}"/>
              </a:ext>
            </a:extLst>
          </p:cNvPr>
          <p:cNvSpPr>
            <a:spLocks xmlns:a="http://schemas.openxmlformats.org/drawingml/2006/main" noGrp="1"/>
          </p:cNvSpPr>
          <p:nvPr/>
        </p:nvSpPr>
        <p:spPr>
          <a:xfrm xmlns:a="http://schemas.openxmlformats.org/drawingml/2006/main">
            <a:off x="419100" y="166687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a:solidFill>
                  <a:srgbClr val="224A7B"/>
                </a:solidFill>
                <a:latin typeface="Arial"/>
                <a:ea typeface="Arial"/>
                <a:cs typeface="Arial"/>
              </a:defRPr>
            </a:pPr>
            <a:r>
              <a:rPr sz="1725" b="1">
                <a:solidFill>
                  <a:srgbClr val="224A7B"/>
                </a:solidFill>
                <a:latin typeface="Arial"/>
                <a:ea typeface="Arial"/>
                <a:cs typeface="Arial"/>
              </a:rPr>
              <a:t>Explainable assurance for quantum digital signatures</a:t>
            </a:r>
          </a:p>
        </p:txBody>
      </p:sp>
      <p:sp>
        <p:nvSpPr>
          <p:cNvPr id="41" name="">
            <a:extLst xmlns:a="http://schemas.openxmlformats.org/drawingml/2006/main">
              <a:ext uri="{FF2B5EF4-FFF2-40B4-BE49-F238E27FC236}">
                <a16:creationId xmlns:a16="http://schemas.microsoft.com/office/drawing/2014/main" id="{81326436-D7B9-408B-A566-8EB4046A310E}"/>
              </a:ext>
            </a:extLst>
          </p:cNvPr>
          <p:cNvSpPr>
            <a:spLocks xmlns:a="http://schemas.openxmlformats.org/drawingml/2006/main" noGrp="1"/>
          </p:cNvSpPr>
          <p:nvPr/>
        </p:nvSpPr>
        <p:spPr>
          <a:xfrm xmlns:a="http://schemas.openxmlformats.org/drawingml/2006/main">
            <a:off x="419100" y="22098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4E6070"/>
                </a:solidFill>
                <a:latin typeface="Arial"/>
                <a:ea typeface="Arial"/>
                <a:cs typeface="Arial"/>
              </a:defRPr>
            </a:pPr>
            <a:r>
              <a:rPr sz="1425" b="1">
                <a:solidFill>
                  <a:srgbClr val="4E6070"/>
                </a:solidFill>
                <a:latin typeface="Arial"/>
                <a:ea typeface="Arial"/>
                <a:cs typeface="Arial"/>
              </a:rPr>
              <a:t>PS ID</a:t>
            </a:r>
          </a:p>
        </p:txBody>
      </p:sp>
      <p:sp>
        <p:nvSpPr>
          <p:cNvPr id="42" name="">
            <a:extLst xmlns:a="http://schemas.openxmlformats.org/drawingml/2006/main">
              <a:ext uri="{FF2B5EF4-FFF2-40B4-BE49-F238E27FC236}">
                <a16:creationId xmlns:a16="http://schemas.microsoft.com/office/drawing/2014/main" id="{DE8653F2-81F3-4C36-A1F4-2E5A4B0CA116}"/>
              </a:ext>
            </a:extLst>
          </p:cNvPr>
          <p:cNvSpPr>
            <a:spLocks xmlns:a="http://schemas.openxmlformats.org/drawingml/2006/main" noGrp="1"/>
          </p:cNvSpPr>
          <p:nvPr/>
        </p:nvSpPr>
        <p:spPr>
          <a:xfrm xmlns:a="http://schemas.openxmlformats.org/drawingml/2006/main">
            <a:off x="1857375" y="22098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SIH26141</a:t>
            </a:r>
          </a:p>
        </p:txBody>
      </p:sp>
      <p:sp>
        <p:nvSpPr>
          <p:cNvPr id="43" name="">
            <a:extLst xmlns:a="http://schemas.openxmlformats.org/drawingml/2006/main">
              <a:ext uri="{FF2B5EF4-FFF2-40B4-BE49-F238E27FC236}">
                <a16:creationId xmlns:a16="http://schemas.microsoft.com/office/drawing/2014/main" id="{00473358-0DCB-47C8-AE65-228B297BC30F}"/>
              </a:ext>
            </a:extLst>
          </p:cNvPr>
          <p:cNvSpPr>
            <a:spLocks xmlns:a="http://schemas.openxmlformats.org/drawingml/2006/main" noGrp="1"/>
          </p:cNvSpPr>
          <p:nvPr/>
        </p:nvSpPr>
        <p:spPr>
          <a:xfrm xmlns:a="http://schemas.openxmlformats.org/drawingml/2006/main">
            <a:off x="419100" y="27241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E6070"/>
                </a:solidFill>
                <a:latin typeface="Arial"/>
                <a:ea typeface="Arial"/>
                <a:cs typeface="Arial"/>
              </a:defRPr>
            </a:pPr>
            <a:r>
              <a:rPr sz="1425" b="1">
                <a:solidFill>
                  <a:srgbClr val="4E6070"/>
                </a:solidFill>
                <a:latin typeface="Arial"/>
                <a:ea typeface="Arial"/>
                <a:cs typeface="Arial"/>
              </a:rPr>
              <a:t>PROBLEM</a:t>
            </a:r>
          </a:p>
        </p:txBody>
      </p:sp>
      <p:sp>
        <p:nvSpPr>
          <p:cNvPr id="44" name="">
            <a:extLst xmlns:a="http://schemas.openxmlformats.org/drawingml/2006/main">
              <a:ext uri="{FF2B5EF4-FFF2-40B4-BE49-F238E27FC236}">
                <a16:creationId xmlns:a16="http://schemas.microsoft.com/office/drawing/2014/main" id="{A72B7989-EBD8-456E-A562-4E3B19146A99}"/>
              </a:ext>
            </a:extLst>
          </p:cNvPr>
          <p:cNvSpPr>
            <a:spLocks xmlns:a="http://schemas.openxmlformats.org/drawingml/2006/main" noGrp="1"/>
          </p:cNvSpPr>
          <p:nvPr/>
        </p:nvSpPr>
        <p:spPr>
          <a:xfrm xmlns:a="http://schemas.openxmlformats.org/drawingml/2006/main">
            <a:off x="1857375" y="2600325"/>
            <a:ext cx="4048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Quantum-Inspired Cyber Threat Detection for Digital Signature Security</a:t>
            </a:r>
          </a:p>
        </p:txBody>
      </p:sp>
      <p:sp>
        <p:nvSpPr>
          <p:cNvPr id="45" name="">
            <a:extLst xmlns:a="http://schemas.openxmlformats.org/drawingml/2006/main">
              <a:ext uri="{FF2B5EF4-FFF2-40B4-BE49-F238E27FC236}">
                <a16:creationId xmlns:a16="http://schemas.microsoft.com/office/drawing/2014/main" id="{C1458A2F-8BC9-4DEC-B4B4-157B818C6853}"/>
              </a:ext>
            </a:extLst>
          </p:cNvPr>
          <p:cNvSpPr>
            <a:spLocks xmlns:a="http://schemas.openxmlformats.org/drawingml/2006/main" noGrp="1"/>
          </p:cNvSpPr>
          <p:nvPr/>
        </p:nvSpPr>
        <p:spPr>
          <a:xfrm xmlns:a="http://schemas.openxmlformats.org/drawingml/2006/main">
            <a:off x="419100" y="3648075"/>
            <a:ext cx="1476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p xmlns:a="http://schemas.openxmlformats.org/drawingml/2006/main">
            <a:pPr algn="l">
              <a:defRPr sz="1425" b="1">
                <a:solidFill>
                  <a:srgbClr val="4E6070"/>
                </a:solidFill>
                <a:latin typeface="Arial"/>
                <a:ea typeface="Arial"/>
                <a:cs typeface="Arial"/>
              </a:defRPr>
            </a:pPr>
            <a:r>
              <a:rPr sz="1425" b="1">
                <a:solidFill>
                  <a:srgbClr val="4E6070"/>
                </a:solidFill>
                <a:latin typeface="Arial"/>
                <a:ea typeface="Arial"/>
                <a:cs typeface="Arial"/>
              </a:rPr>
              <a:t>THEME</a:t>
            </a:r>
          </a:p>
        </p:txBody>
      </p:sp>
      <p:sp>
        <p:nvSpPr>
          <p:cNvPr id="46" name="">
            <a:extLst xmlns:a="http://schemas.openxmlformats.org/drawingml/2006/main">
              <a:ext uri="{FF2B5EF4-FFF2-40B4-BE49-F238E27FC236}">
                <a16:creationId xmlns:a16="http://schemas.microsoft.com/office/drawing/2014/main" id="{5448A794-D1EE-4B90-ADDB-6BBE5DA72B43}"/>
              </a:ext>
            </a:extLst>
          </p:cNvPr>
          <p:cNvSpPr>
            <a:spLocks xmlns:a="http://schemas.openxmlformats.org/drawingml/2006/main" noGrp="1"/>
          </p:cNvSpPr>
          <p:nvPr/>
        </p:nvSpPr>
        <p:spPr>
          <a:xfrm xmlns:a="http://schemas.openxmlformats.org/drawingml/2006/main">
            <a:off x="1857375" y="3648075"/>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21"/>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Blockchain &amp; Cybersecurity</a:t>
            </a:r>
          </a:p>
        </p:txBody>
      </p:sp>
      <p:sp>
        <p:nvSpPr>
          <p:cNvPr id="47" name="">
            <a:extLst xmlns:a="http://schemas.openxmlformats.org/drawingml/2006/main">
              <a:ext uri="{FF2B5EF4-FFF2-40B4-BE49-F238E27FC236}">
                <a16:creationId xmlns:a16="http://schemas.microsoft.com/office/drawing/2014/main" id="{0F71BFDA-6B82-46FF-B766-598994058B6A}"/>
              </a:ext>
            </a:extLst>
          </p:cNvPr>
          <p:cNvSpPr>
            <a:spLocks xmlns:a="http://schemas.openxmlformats.org/drawingml/2006/main" noGrp="1"/>
          </p:cNvSpPr>
          <p:nvPr/>
        </p:nvSpPr>
        <p:spPr>
          <a:xfrm xmlns:a="http://schemas.openxmlformats.org/drawingml/2006/main">
            <a:off x="419100" y="4152900"/>
            <a:ext cx="1476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p xmlns:a="http://schemas.openxmlformats.org/drawingml/2006/main">
            <a:pPr algn="l">
              <a:defRPr sz="1425" b="1">
                <a:solidFill>
                  <a:srgbClr val="4E6070"/>
                </a:solidFill>
                <a:latin typeface="Arial"/>
                <a:ea typeface="Arial"/>
                <a:cs typeface="Arial"/>
              </a:defRPr>
            </a:pPr>
            <a:r>
              <a:rPr sz="1425" b="1">
                <a:solidFill>
                  <a:srgbClr val="4E6070"/>
                </a:solidFill>
                <a:latin typeface="Arial"/>
                <a:ea typeface="Arial"/>
                <a:cs typeface="Arial"/>
              </a:rPr>
              <a:t>CATEGORY</a:t>
            </a:r>
          </a:p>
        </p:txBody>
      </p:sp>
      <p:sp>
        <p:nvSpPr>
          <p:cNvPr id="48" name="">
            <a:extLst xmlns:a="http://schemas.openxmlformats.org/drawingml/2006/main">
              <a:ext uri="{FF2B5EF4-FFF2-40B4-BE49-F238E27FC236}">
                <a16:creationId xmlns:a16="http://schemas.microsoft.com/office/drawing/2014/main" id="{D359590E-9694-4DFA-AEE5-2A051EF8782E}"/>
              </a:ext>
            </a:extLst>
          </p:cNvPr>
          <p:cNvSpPr>
            <a:spLocks xmlns:a="http://schemas.openxmlformats.org/drawingml/2006/main" noGrp="1"/>
          </p:cNvSpPr>
          <p:nvPr/>
        </p:nvSpPr>
        <p:spPr>
          <a:xfrm xmlns:a="http://schemas.openxmlformats.org/drawingml/2006/main">
            <a:off x="1857375" y="4152900"/>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21"/>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Software</a:t>
            </a:r>
          </a:p>
        </p:txBody>
      </p:sp>
      <p:sp>
        <p:nvSpPr>
          <p:cNvPr id="49" name="">
            <a:extLst xmlns:a="http://schemas.openxmlformats.org/drawingml/2006/main">
              <a:ext uri="{FF2B5EF4-FFF2-40B4-BE49-F238E27FC236}">
                <a16:creationId xmlns:a16="http://schemas.microsoft.com/office/drawing/2014/main" id="{8E36432A-1686-4A6D-B56A-F11BB50EA4C8}"/>
              </a:ext>
            </a:extLst>
          </p:cNvPr>
          <p:cNvSpPr>
            <a:spLocks xmlns:a="http://schemas.openxmlformats.org/drawingml/2006/main" noGrp="1"/>
          </p:cNvSpPr>
          <p:nvPr/>
        </p:nvSpPr>
        <p:spPr>
          <a:xfrm xmlns:a="http://schemas.openxmlformats.org/drawingml/2006/main">
            <a:off x="419100" y="4657725"/>
            <a:ext cx="1476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p xmlns:a="http://schemas.openxmlformats.org/drawingml/2006/main">
            <a:pPr algn="l">
              <a:defRPr sz="1425" b="1">
                <a:solidFill>
                  <a:srgbClr val="4E6070"/>
                </a:solidFill>
                <a:latin typeface="Arial"/>
                <a:ea typeface="Arial"/>
                <a:cs typeface="Arial"/>
              </a:defRPr>
            </a:pPr>
            <a:r>
              <a:rPr sz="1425" b="1">
                <a:solidFill>
                  <a:srgbClr val="4E6070"/>
                </a:solidFill>
                <a:latin typeface="Arial"/>
                <a:ea typeface="Arial"/>
                <a:cs typeface="Arial"/>
              </a:rPr>
              <a:t>TEAM ID</a:t>
            </a:r>
          </a:p>
        </p:txBody>
      </p:sp>
      <p:sp>
        <p:nvSpPr>
          <p:cNvPr id="50" name="">
            <a:extLst xmlns:a="http://schemas.openxmlformats.org/drawingml/2006/main">
              <a:ext uri="{FF2B5EF4-FFF2-40B4-BE49-F238E27FC236}">
                <a16:creationId xmlns:a16="http://schemas.microsoft.com/office/drawing/2014/main" id="{FF461318-0EB0-4FA1-93D5-9DF4D4B2D74E}"/>
              </a:ext>
            </a:extLst>
          </p:cNvPr>
          <p:cNvSpPr>
            <a:spLocks xmlns:a="http://schemas.openxmlformats.org/drawingml/2006/main" noGrp="1"/>
          </p:cNvSpPr>
          <p:nvPr/>
        </p:nvSpPr>
        <p:spPr>
          <a:xfrm xmlns:a="http://schemas.openxmlformats.org/drawingml/2006/main">
            <a:off x="1857375" y="4657725"/>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21"/>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125961</a:t>
            </a:r>
          </a:p>
        </p:txBody>
      </p:sp>
      <p:sp>
        <p:nvSpPr>
          <p:cNvPr id="51" name="">
            <a:extLst xmlns:a="http://schemas.openxmlformats.org/drawingml/2006/main">
              <a:ext uri="{FF2B5EF4-FFF2-40B4-BE49-F238E27FC236}">
                <a16:creationId xmlns:a16="http://schemas.microsoft.com/office/drawing/2014/main" id="{5AB4514F-9A13-4F33-AF0F-051146F9AB15}"/>
              </a:ext>
            </a:extLst>
          </p:cNvPr>
          <p:cNvSpPr>
            <a:spLocks xmlns:a="http://schemas.openxmlformats.org/drawingml/2006/main" noGrp="1"/>
          </p:cNvSpPr>
          <p:nvPr/>
        </p:nvSpPr>
        <p:spPr>
          <a:xfrm xmlns:a="http://schemas.openxmlformats.org/drawingml/2006/main">
            <a:off x="419100" y="5162550"/>
            <a:ext cx="1476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p xmlns:a="http://schemas.openxmlformats.org/drawingml/2006/main">
            <a:pPr algn="l">
              <a:defRPr sz="1425" b="1">
                <a:solidFill>
                  <a:srgbClr val="4E6070"/>
                </a:solidFill>
                <a:latin typeface="Arial"/>
                <a:ea typeface="Arial"/>
                <a:cs typeface="Arial"/>
              </a:defRPr>
            </a:pPr>
            <a:r>
              <a:rPr sz="1425" b="1">
                <a:solidFill>
                  <a:srgbClr val="4E6070"/>
                </a:solidFill>
                <a:latin typeface="Arial"/>
                <a:ea typeface="Arial"/>
                <a:cs typeface="Arial"/>
              </a:rPr>
              <a:t>TEAM</a:t>
            </a:r>
          </a:p>
        </p:txBody>
      </p:sp>
      <p:sp>
        <p:nvSpPr>
          <p:cNvPr id="52" name="">
            <a:extLst xmlns:a="http://schemas.openxmlformats.org/drawingml/2006/main">
              <a:ext uri="{FF2B5EF4-FFF2-40B4-BE49-F238E27FC236}">
                <a16:creationId xmlns:a16="http://schemas.microsoft.com/office/drawing/2014/main" id="{DA940F07-AF6C-45F1-A42F-9D19371ECBF6}"/>
              </a:ext>
            </a:extLst>
          </p:cNvPr>
          <p:cNvSpPr>
            <a:spLocks xmlns:a="http://schemas.openxmlformats.org/drawingml/2006/main" noGrp="1"/>
          </p:cNvSpPr>
          <p:nvPr/>
        </p:nvSpPr>
        <p:spPr>
          <a:xfrm xmlns:a="http://schemas.openxmlformats.org/drawingml/2006/main">
            <a:off x="1857375" y="5162550"/>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21"/>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Cache Hit</a:t>
            </a:r>
          </a:p>
        </p:txBody>
      </p:sp>
      <p:sp>
        <p:nvSpPr>
          <p:cNvPr id="53" name="">
            <a:extLst xmlns:a="http://schemas.openxmlformats.org/drawingml/2006/main">
              <a:ext uri="{FF2B5EF4-FFF2-40B4-BE49-F238E27FC236}">
                <a16:creationId xmlns:a16="http://schemas.microsoft.com/office/drawing/2014/main" id="{DBF434C1-E1B7-432B-B300-809B56CD3B56}"/>
              </a:ext>
            </a:extLst>
          </p:cNvPr>
          <p:cNvSpPr>
            <a:spLocks xmlns:a="http://schemas.openxmlformats.org/drawingml/2006/main" noGrp="1"/>
          </p:cNvSpPr>
          <p:nvPr/>
        </p:nvSpPr>
        <p:spPr>
          <a:xfrm xmlns:a="http://schemas.openxmlformats.org/drawingml/2006/main">
            <a:off x="419100" y="6038850"/>
            <a:ext cx="5476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0">
                <a:solidFill>
                  <a:srgbClr val="4E6070"/>
                </a:solidFill>
                <a:latin typeface="Arial"/>
                <a:ea typeface="Arial"/>
                <a:cs typeface="Arial"/>
              </a:defRPr>
            </a:pPr>
            <a:r>
              <a:rPr sz="1275" b="0">
                <a:solidFill>
                  <a:srgbClr val="4E6070"/>
                </a:solidFill>
                <a:latin typeface="Arial"/>
                <a:ea typeface="Arial"/>
                <a:cs typeface="Arial"/>
              </a:rPr>
              <a:t>Software simulation and security-assurance prototype</a:t>
            </a:r>
          </a:p>
        </p:txBody>
      </p:sp>
    </p:spTree>
    <p:extLst>
      <p:ext uri="{BB962C8B-B14F-4D97-AF65-F5344CB8AC3E}">
        <p14:creationId xmlns:p14="http://schemas.microsoft.com/office/powerpoint/2010/main" val="1964474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5FFFCAE2-351D-4AF1-820F-CB8D207B1464}"/>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E48F989-6D00-4803-8D33-41B832D9B77F}"/>
              </a:ext>
            </a:extLst>
          </p:cNvPr>
          <p:cNvSpPr>
            <a:spLocks xmlns:a="http://schemas.openxmlformats.org/drawingml/2006/main" noGrp="1"/>
          </p:cNvSpPr>
          <p:nvPr>
            <p:ph type="title" idx="0"/>
          </p:nvPr>
        </p:nvSpPr>
        <p:spPr>
          <a:xfrm xmlns:a="http://schemas.openxmlformats.org/drawingml/2006/main">
            <a:off x="182998" y="0"/>
            <a:ext cx="10972800" cy="1143000"/>
          </a:xfrm>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Q-PRAMAAN</a:t>
            </a:r>
          </a:p>
        </p:txBody>
      </p:sp>
      <p:sp>
        <p:nvSpPr>
          <p:cNvPr id="6" name="Slide Number Placeholder 5">
            <a:extLst xmlns:a="http://schemas.openxmlformats.org/drawingml/2006/main">
              <a:ext uri="{FF2B5EF4-FFF2-40B4-BE49-F238E27FC236}">
                <a16:creationId xmlns:a16="http://schemas.microsoft.com/office/drawing/2014/main" id="{D93E39A9-623A-436D-84DC-19ED7AEFD5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A1B2AB50-D727-4A57-8E5E-B13BF08CF01D}"/>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5381" name="Picture 10"/>
          <p:cNvPicPr>
            <a:picLocks xmlns:a="http://schemas.openxmlformats.org/drawingml/2006/main" noChangeAspect="1"/>
          </p:cNvPicPr>
          <p:nvPr/>
        </p:nvPicPr>
        <p:blipFill>
          <a:blip xmlns:r="http://schemas.openxmlformats.org/officeDocument/2006/relationships" xmlns:a="http://schemas.openxmlformats.org/drawingml/2006/main" r:embed="Reb93d9036bed488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2DE0CD5B-4DDD-4B98-AE22-E390B05375D0}"/>
              </a:ext>
            </a:extLst>
          </p:cNvPr>
          <p:cNvSpPr>
            <a:spLocks xmlns:a="http://schemas.openxmlformats.org/drawingml/2006/main" noGrp="1"/>
          </p:cNvSpPr>
          <p:nvPr/>
        </p:nvSpPr>
        <p:spPr>
          <a:xfrm xmlns:a="http://schemas.openxmlformats.org/drawingml/2006/main">
            <a:off x="504825" y="14287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224A7B"/>
                </a:solidFill>
                <a:latin typeface="Arial"/>
                <a:ea typeface="Arial"/>
                <a:cs typeface="Arial"/>
              </a:defRPr>
            </a:pPr>
            <a:r>
              <a:rPr sz="2400" b="1">
                <a:solidFill>
                  <a:srgbClr val="224A7B"/>
                </a:solidFill>
                <a:latin typeface="Arial"/>
                <a:ea typeface="Arial"/>
                <a:cs typeface="Arial"/>
              </a:rPr>
              <a:t>Same 2% average error. One Bell outcome is manipulated.</a:t>
            </a:r>
          </a:p>
        </p:txBody>
      </p:sp>
      <p:sp>
        <p:nvSpPr>
          <p:cNvPr id="15365" name="">
            <a:extLst xmlns:a="http://schemas.openxmlformats.org/drawingml/2006/main">
              <a:ext uri="{FF2B5EF4-FFF2-40B4-BE49-F238E27FC236}">
                <a16:creationId xmlns:a16="http://schemas.microsoft.com/office/drawing/2014/main" id="{60EC5A04-1F6A-4A2D-9FFE-32B9CAAF9AF7}"/>
              </a:ext>
            </a:extLst>
          </p:cNvPr>
          <p:cNvSpPr>
            <a:spLocks xmlns:a="http://schemas.openxmlformats.org/drawingml/2006/main" noGrp="1"/>
          </p:cNvSpPr>
          <p:nvPr/>
        </p:nvSpPr>
        <p:spPr>
          <a:xfrm xmlns:a="http://schemas.openxmlformats.org/drawingml/2006/main">
            <a:off x="514350" y="20478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4E6070"/>
                </a:solidFill>
                <a:latin typeface="Arial"/>
                <a:ea typeface="Arial"/>
                <a:cs typeface="Arial"/>
              </a:defRPr>
            </a:pPr>
            <a:r>
              <a:rPr sz="1725" b="1">
                <a:solidFill>
                  <a:srgbClr val="4E6070"/>
                </a:solidFill>
                <a:latin typeface="Arial"/>
                <a:ea typeface="Arial"/>
                <a:cs typeface="Arial"/>
              </a:rPr>
              <a:t>Pooled detector · targeted channel</a:t>
            </a:r>
          </a:p>
        </p:txBody>
      </p:sp>
      <p:sp>
        <p:nvSpPr>
          <p:cNvPr id="15366" name="">
            <a:extLst xmlns:a="http://schemas.openxmlformats.org/drawingml/2006/main">
              <a:ext uri="{FF2B5EF4-FFF2-40B4-BE49-F238E27FC236}">
                <a16:creationId xmlns:a16="http://schemas.microsoft.com/office/drawing/2014/main" id="{8A20A7F8-C3F4-4EEB-AE22-8CEE6A7DB507}"/>
              </a:ext>
            </a:extLst>
          </p:cNvPr>
          <p:cNvSpPr>
            <a:spLocks xmlns:a="http://schemas.openxmlformats.org/drawingml/2006/main" noGrp="1"/>
          </p:cNvSpPr>
          <p:nvPr/>
        </p:nvSpPr>
        <p:spPr>
          <a:xfrm xmlns:a="http://schemas.openxmlformats.org/drawingml/2006/main">
            <a:off x="5981700" y="20478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4E6070"/>
                </a:solidFill>
                <a:latin typeface="Arial"/>
                <a:ea typeface="Arial"/>
                <a:cs typeface="Arial"/>
              </a:defRPr>
            </a:pPr>
            <a:r>
              <a:rPr sz="1725" b="1">
                <a:solidFill>
                  <a:srgbClr val="4E6070"/>
                </a:solidFill>
                <a:latin typeface="Arial"/>
                <a:ea typeface="Arial"/>
                <a:cs typeface="Arial"/>
              </a:rPr>
              <a:t>Conditional detector · targeted channel</a:t>
            </a:r>
          </a:p>
        </p:txBody>
      </p:sp>
      <p:sp>
        <p:nvSpPr>
          <p:cNvPr id="15367" name="">
            <a:extLst xmlns:a="http://schemas.openxmlformats.org/drawingml/2006/main">
              <a:ext uri="{FF2B5EF4-FFF2-40B4-BE49-F238E27FC236}">
                <a16:creationId xmlns:a16="http://schemas.microsoft.com/office/drawing/2014/main" id="{71DC14FD-30C0-42E8-9192-1138E66DD442}"/>
              </a:ext>
            </a:extLst>
          </p:cNvPr>
          <p:cNvSpPr>
            <a:spLocks xmlns:a="http://schemas.openxmlformats.org/drawingml/2006/main" noGrp="1"/>
          </p:cNvSpPr>
          <p:nvPr/>
        </p:nvSpPr>
        <p:spPr>
          <a:xfrm xmlns:a="http://schemas.openxmlformats.org/drawingml/2006/main">
            <a:off x="514350" y="2381250"/>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200" b="1">
                <a:solidFill>
                  <a:srgbClr val="142F4A"/>
                </a:solidFill>
                <a:latin typeface="Arial"/>
                <a:ea typeface="Arial"/>
                <a:cs typeface="Arial"/>
              </a:defRPr>
            </a:pPr>
            <a:r>
              <a:rPr sz="4200" b="1">
                <a:solidFill>
                  <a:srgbClr val="142F4A"/>
                </a:solidFill>
                <a:latin typeface="Arial"/>
                <a:ea typeface="Arial"/>
                <a:cs typeface="Arial"/>
              </a:rPr>
              <a:t>0 / 20,000</a:t>
            </a:r>
          </a:p>
        </p:txBody>
      </p:sp>
      <p:sp>
        <p:nvSpPr>
          <p:cNvPr id="15368" name="">
            <a:extLst xmlns:a="http://schemas.openxmlformats.org/drawingml/2006/main">
              <a:ext uri="{FF2B5EF4-FFF2-40B4-BE49-F238E27FC236}">
                <a16:creationId xmlns:a16="http://schemas.microsoft.com/office/drawing/2014/main" id="{C5968078-04FD-427F-B346-36C9233DF9DF}"/>
              </a:ext>
            </a:extLst>
          </p:cNvPr>
          <p:cNvSpPr>
            <a:spLocks xmlns:a="http://schemas.openxmlformats.org/drawingml/2006/main" noGrp="1"/>
          </p:cNvSpPr>
          <p:nvPr/>
        </p:nvSpPr>
        <p:spPr>
          <a:xfrm xmlns:a="http://schemas.openxmlformats.org/drawingml/2006/main">
            <a:off x="5981700" y="23812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200" b="1">
                <a:solidFill>
                  <a:srgbClr val="BA3A40"/>
                </a:solidFill>
                <a:latin typeface="Arial"/>
                <a:ea typeface="Arial"/>
                <a:cs typeface="Arial"/>
              </a:defRPr>
            </a:pPr>
            <a:r>
              <a:rPr sz="4200" b="1">
                <a:solidFill>
                  <a:srgbClr val="BA3A40"/>
                </a:solidFill>
                <a:latin typeface="Arial"/>
                <a:ea typeface="Arial"/>
                <a:cs typeface="Arial"/>
              </a:rPr>
              <a:t>19,967 / 20,000</a:t>
            </a:r>
          </a:p>
        </p:txBody>
      </p:sp>
      <p:sp>
        <p:nvSpPr>
          <p:cNvPr id="15369" name="">
            <a:extLst xmlns:a="http://schemas.openxmlformats.org/drawingml/2006/main">
              <a:ext uri="{FF2B5EF4-FFF2-40B4-BE49-F238E27FC236}">
                <a16:creationId xmlns:a16="http://schemas.microsoft.com/office/drawing/2014/main" id="{4F0C9DFB-1CD5-42C9-BB15-D4C2B1BE408D}"/>
              </a:ext>
            </a:extLst>
          </p:cNvPr>
          <p:cNvSpPr>
            <a:spLocks xmlns:a="http://schemas.openxmlformats.org/drawingml/2006/main" noGrp="1"/>
          </p:cNvSpPr>
          <p:nvPr/>
        </p:nvSpPr>
        <p:spPr>
          <a:xfrm xmlns:a="http://schemas.openxmlformats.org/drawingml/2006/main">
            <a:off x="514350" y="3276600"/>
            <a:ext cx="528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575" b="0">
                <a:solidFill>
                  <a:srgbClr val="4E6070"/>
                </a:solidFill>
                <a:latin typeface="Arial"/>
                <a:ea typeface="Arial"/>
                <a:cs typeface="Arial"/>
              </a:defRPr>
            </a:pPr>
            <a:r>
              <a:rPr sz="1575" b="0">
                <a:solidFill>
                  <a:srgbClr val="4E6070"/>
                </a:solidFill>
                <a:latin typeface="Arial"/>
                <a:ea typeface="Arial"/>
                <a:cs typeface="Arial"/>
              </a:rPr>
              <a:t>batches flagged</a:t>
            </a:r>
          </a:p>
        </p:txBody>
      </p:sp>
      <p:sp>
        <p:nvSpPr>
          <p:cNvPr id="15370" name="">
            <a:extLst xmlns:a="http://schemas.openxmlformats.org/drawingml/2006/main">
              <a:ext uri="{FF2B5EF4-FFF2-40B4-BE49-F238E27FC236}">
                <a16:creationId xmlns:a16="http://schemas.microsoft.com/office/drawing/2014/main" id="{E89E9DC7-76BF-4861-B63E-4E0F736E1DB0}"/>
              </a:ext>
            </a:extLst>
          </p:cNvPr>
          <p:cNvSpPr>
            <a:spLocks xmlns:a="http://schemas.openxmlformats.org/drawingml/2006/main" noGrp="1"/>
          </p:cNvSpPr>
          <p:nvPr/>
        </p:nvSpPr>
        <p:spPr>
          <a:xfrm xmlns:a="http://schemas.openxmlformats.org/drawingml/2006/main">
            <a:off x="5981700" y="32766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575" b="0">
                <a:solidFill>
                  <a:srgbClr val="4E6070"/>
                </a:solidFill>
                <a:latin typeface="Arial"/>
                <a:ea typeface="Arial"/>
                <a:cs typeface="Arial"/>
              </a:defRPr>
            </a:pPr>
            <a:r>
              <a:rPr sz="1575" b="0">
                <a:solidFill>
                  <a:srgbClr val="4E6070"/>
                </a:solidFill>
                <a:latin typeface="Arial"/>
                <a:ea typeface="Arial"/>
                <a:cs typeface="Arial"/>
              </a:rPr>
              <a:t>batches flagged</a:t>
            </a:r>
          </a:p>
        </p:txBody>
      </p:sp>
      <p:sp>
        <p:nvSpPr>
          <p:cNvPr id="15371" name="">
            <a:extLst xmlns:a="http://schemas.openxmlformats.org/drawingml/2006/main">
              <a:ext uri="{FF2B5EF4-FFF2-40B4-BE49-F238E27FC236}">
                <a16:creationId xmlns:a16="http://schemas.microsoft.com/office/drawing/2014/main" id="{0E340676-4005-418F-9FB1-517496919E26}"/>
              </a:ext>
            </a:extLst>
          </p:cNvPr>
          <p:cNvSpPr>
            <a:spLocks xmlns:a="http://schemas.openxmlformats.org/drawingml/2006/main" noGrp="1"/>
          </p:cNvSpPr>
          <p:nvPr/>
        </p:nvSpPr>
        <p:spPr>
          <a:xfrm xmlns:a="http://schemas.openxmlformats.org/drawingml/2006/main">
            <a:off x="514350" y="3638550"/>
            <a:ext cx="1085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037"/>
          </a:bodyPr>
          <a:lstStyle xmlns:a="http://schemas.openxmlformats.org/drawingml/2006/main"/>
          <a:p xmlns:a="http://schemas.openxmlformats.org/drawingml/2006/main">
            <a:pPr algn="l">
              <a:defRPr sz="1350" b="0">
                <a:solidFill>
                  <a:srgbClr val="4E6070"/>
                </a:solidFill>
                <a:latin typeface="Arial"/>
                <a:ea typeface="Arial"/>
                <a:cs typeface="Arial"/>
              </a:defRPr>
            </a:pPr>
            <a:r>
              <a:rPr sz="1350" b="0">
                <a:solidFill>
                  <a:srgbClr val="4E6070"/>
                </a:solidFill>
                <a:latin typeface="Arial"/>
                <a:ea typeface="Arial"/>
                <a:cs typeface="Arial"/>
              </a:rPr>
              <a:t>Ordinary channel: neither detector flagged a batch in 20,000 trials.</a:t>
            </a:r>
          </a:p>
        </p:txBody>
      </p:sp>
      <p:sp>
        <p:nvSpPr>
          <p:cNvPr id="15372" name="">
            <a:extLst xmlns:a="http://schemas.openxmlformats.org/drawingml/2006/main">
              <a:ext uri="{FF2B5EF4-FFF2-40B4-BE49-F238E27FC236}">
                <a16:creationId xmlns:a16="http://schemas.microsoft.com/office/drawing/2014/main" id="{5027BC15-7D73-44B0-ADE3-928016DD828F}"/>
              </a:ext>
            </a:extLst>
          </p:cNvPr>
          <p:cNvSpPr>
            <a:spLocks xmlns:a="http://schemas.openxmlformats.org/drawingml/2006/main" noGrp="1"/>
          </p:cNvSpPr>
          <p:nvPr/>
        </p:nvSpPr>
        <p:spPr>
          <a:xfrm xmlns:a="http://schemas.openxmlformats.org/drawingml/2006/main">
            <a:off x="514350" y="3905250"/>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224A7B"/>
                </a:solidFill>
                <a:latin typeface="Arial"/>
                <a:ea typeface="Arial"/>
                <a:cs typeface="Arial"/>
              </a:defRPr>
            </a:pPr>
            <a:r>
              <a:rPr sz="1800" b="1">
                <a:solidFill>
                  <a:srgbClr val="224A7B"/>
                </a:solidFill>
                <a:latin typeface="Arial"/>
                <a:ea typeface="Arial"/>
                <a:cs typeface="Arial"/>
              </a:rPr>
              <a:t>PROPOSED SOLUTION</a:t>
            </a:r>
          </a:p>
        </p:txBody>
      </p:sp>
      <p:sp>
        <p:nvSpPr>
          <p:cNvPr id="15373" name="">
            <a:extLst xmlns:a="http://schemas.openxmlformats.org/drawingml/2006/main">
              <a:ext uri="{FF2B5EF4-FFF2-40B4-BE49-F238E27FC236}">
                <a16:creationId xmlns:a16="http://schemas.microsoft.com/office/drawing/2014/main" id="{2F63138D-2F2A-447F-AA3E-1FEA1281AC6D}"/>
              </a:ext>
            </a:extLst>
          </p:cNvPr>
          <p:cNvSpPr>
            <a:spLocks xmlns:a="http://schemas.openxmlformats.org/drawingml/2006/main" noGrp="1"/>
          </p:cNvSpPr>
          <p:nvPr/>
        </p:nvSpPr>
        <p:spPr>
          <a:xfrm xmlns:a="http://schemas.openxmlformats.org/drawingml/2006/main">
            <a:off x="514350" y="432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42F4A"/>
                </a:solidFill>
                <a:latin typeface="Arial"/>
                <a:ea typeface="Arial"/>
                <a:cs typeface="Arial"/>
              </a:defRPr>
            </a:pPr>
            <a:r>
              <a:rPr sz="1650" b="0">
                <a:solidFill>
                  <a:srgbClr val="142F4A"/>
                </a:solidFill>
                <a:latin typeface="Arial"/>
                <a:ea typeface="Arial"/>
                <a:cs typeface="Arial"/>
              </a:rPr>
              <a:t>Simulate Alice–Bob–Charlie signatures over Bell-pair teleportation; verify the declaration and probe each teleportation outcome separately.</a:t>
            </a:r>
          </a:p>
        </p:txBody>
      </p:sp>
      <p:sp>
        <p:nvSpPr>
          <p:cNvPr id="15374" name="">
            <a:extLst xmlns:a="http://schemas.openxmlformats.org/drawingml/2006/main">
              <a:ext uri="{FF2B5EF4-FFF2-40B4-BE49-F238E27FC236}">
                <a16:creationId xmlns:a16="http://schemas.microsoft.com/office/drawing/2014/main" id="{A86B70E5-FE96-4B9C-A481-4C5EB000776B}"/>
              </a:ext>
            </a:extLst>
          </p:cNvPr>
          <p:cNvSpPr>
            <a:spLocks xmlns:a="http://schemas.openxmlformats.org/drawingml/2006/main" noGrp="1"/>
          </p:cNvSpPr>
          <p:nvPr/>
        </p:nvSpPr>
        <p:spPr>
          <a:xfrm xmlns:a="http://schemas.openxmlformats.org/drawingml/2006/main">
            <a:off x="514350" y="5086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HOW IT ADDRESSES THE PROBLEM  Authenticated sessions stop impersonation; an atomic ledger blocks replay; measurement thresholds expose channel anomalies.</a:t>
            </a:r>
          </a:p>
        </p:txBody>
      </p:sp>
      <p:sp>
        <p:nvSpPr>
          <p:cNvPr id="15375" name="">
            <a:extLst xmlns:a="http://schemas.openxmlformats.org/drawingml/2006/main">
              <a:ext uri="{FF2B5EF4-FFF2-40B4-BE49-F238E27FC236}">
                <a16:creationId xmlns:a16="http://schemas.microsoft.com/office/drawing/2014/main" id="{6800F2C5-101D-4BAF-A2A4-DE7366C1EB30}"/>
              </a:ext>
            </a:extLst>
          </p:cNvPr>
          <p:cNvSpPr>
            <a:spLocks xmlns:a="http://schemas.openxmlformats.org/drawingml/2006/main" noGrp="1"/>
          </p:cNvSpPr>
          <p:nvPr/>
        </p:nvSpPr>
        <p:spPr>
          <a:xfrm xmlns:a="http://schemas.openxmlformats.org/drawingml/2006/main">
            <a:off x="514350" y="57721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24A7B"/>
                </a:solidFill>
                <a:latin typeface="Arial"/>
                <a:ea typeface="Arial"/>
                <a:cs typeface="Arial"/>
              </a:defRPr>
            </a:pPr>
            <a:r>
              <a:rPr sz="1500" b="1">
                <a:solidFill>
                  <a:srgbClr val="224A7B"/>
                </a:solidFill>
                <a:latin typeface="Arial"/>
                <a:ea typeface="Arial"/>
                <a:cs typeface="Arial"/>
              </a:rPr>
              <a:t>INNOVATION  A reproducible evidence trail separates signature validity, channel status and authorization.</a:t>
            </a:r>
          </a:p>
        </p:txBody>
      </p:sp>
    </p:spTree>
    <p:extLst>
      <p:ext uri="{BB962C8B-B14F-4D97-AF65-F5344CB8AC3E}">
        <p14:creationId xmlns:p14="http://schemas.microsoft.com/office/powerpoint/2010/main" val="13486280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935EF793-6BF9-42E3-AEC5-67868CC576D8}"/>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FD6CDF1A-1EBF-40C4-BC7F-4AEB841E4D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FA002D16-02A9-4E04-B1AE-5456C954F311}"/>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29" name="Picture 11"/>
          <p:cNvPicPr>
            <a:picLocks xmlns:a="http://schemas.openxmlformats.org/drawingml/2006/main" noChangeAspect="1"/>
          </p:cNvPicPr>
          <p:nvPr/>
        </p:nvPicPr>
        <p:blipFill>
          <a:blip xmlns:r="http://schemas.openxmlformats.org/officeDocument/2006/relationships" xmlns:a="http://schemas.openxmlformats.org/drawingml/2006/main" r:embed="R38f190e9310340de"/>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E4DF47DE-14C1-4F4E-9B1F-123CAAAD376D}"/>
              </a:ext>
            </a:extLst>
          </p:cNvPr>
          <p:cNvSpPr>
            <a:spLocks xmlns:a="http://schemas.openxmlformats.org/drawingml/2006/main" noGrp="1"/>
          </p:cNvSpPr>
          <p:nvPr/>
        </p:nvSpPr>
        <p:spPr>
          <a:xfrm xmlns:a="http://schemas.openxmlformats.org/drawingml/2006/main">
            <a:off x="523875" y="14763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224A7B"/>
                </a:solidFill>
                <a:latin typeface="Arial"/>
                <a:ea typeface="Arial"/>
                <a:cs typeface="Arial"/>
              </a:defRPr>
            </a:pPr>
            <a:r>
              <a:rPr sz="2400" b="1">
                <a:solidFill>
                  <a:srgbClr val="224A7B"/>
                </a:solidFill>
                <a:latin typeface="Arial"/>
                <a:ea typeface="Arial"/>
                <a:cs typeface="Arial"/>
              </a:rPr>
              <a:t>An inspectable signature workflow</a:t>
            </a:r>
          </a:p>
        </p:txBody>
      </p:sp>
      <p:sp>
        <p:nvSpPr>
          <p:cNvPr id="17413" name="">
            <a:extLst xmlns:a="http://schemas.openxmlformats.org/drawingml/2006/main">
              <a:ext uri="{FF2B5EF4-FFF2-40B4-BE49-F238E27FC236}">
                <a16:creationId xmlns:a16="http://schemas.microsoft.com/office/drawing/2014/main" id="{264F56DB-151C-4EF1-ABED-F17A048CC0A1}"/>
              </a:ext>
            </a:extLst>
          </p:cNvPr>
          <p:cNvSpPr>
            <a:spLocks xmlns:a="http://schemas.openxmlformats.org/drawingml/2006/main" noGrp="1"/>
          </p:cNvSpPr>
          <p:nvPr/>
        </p:nvSpPr>
        <p:spPr>
          <a:xfrm xmlns:a="http://schemas.openxmlformats.org/drawingml/2006/main">
            <a:off x="533400" y="2190750"/>
            <a:ext cx="204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24A7B"/>
                </a:solidFill>
                <a:latin typeface="Arial"/>
                <a:ea typeface="Arial"/>
                <a:cs typeface="Arial"/>
              </a:defRPr>
            </a:pPr>
            <a:r>
              <a:rPr sz="1725" b="1">
                <a:solidFill>
                  <a:srgbClr val="224A7B"/>
                </a:solidFill>
                <a:latin typeface="Arial"/>
                <a:ea typeface="Arial"/>
                <a:cs typeface="Arial"/>
              </a:rPr>
              <a:t>1  PREPARE</a:t>
            </a:r>
          </a:p>
        </p:txBody>
      </p:sp>
      <p:sp>
        <p:nvSpPr>
          <p:cNvPr id="17414" name="">
            <a:extLst xmlns:a="http://schemas.openxmlformats.org/drawingml/2006/main">
              <a:ext uri="{FF2B5EF4-FFF2-40B4-BE49-F238E27FC236}">
                <a16:creationId xmlns:a16="http://schemas.microsoft.com/office/drawing/2014/main" id="{33B5D602-F64D-41C6-8D8F-43C1C015AB89}"/>
              </a:ext>
            </a:extLst>
          </p:cNvPr>
          <p:cNvSpPr>
            <a:spLocks xmlns:a="http://schemas.openxmlformats.org/drawingml/2006/main" noGrp="1"/>
          </p:cNvSpPr>
          <p:nvPr/>
        </p:nvSpPr>
        <p:spPr>
          <a:xfrm xmlns:a="http://schemas.openxmlformats.org/drawingml/2006/main">
            <a:off x="2647950" y="2190750"/>
            <a:ext cx="8829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42F4A"/>
                </a:solidFill>
                <a:latin typeface="Arial"/>
                <a:ea typeface="Arial"/>
                <a:cs typeface="Arial"/>
              </a:defRPr>
            </a:pPr>
            <a:r>
              <a:rPr sz="1650" b="0">
                <a:solidFill>
                  <a:srgbClr val="142F4A"/>
                </a:solidFill>
                <a:latin typeface="Arial"/>
                <a:ea typeface="Arial"/>
                <a:cs typeface="Arial"/>
              </a:rPr>
              <a:t>Alice creates BB84 signature states for approve / reject in a registered session.</a:t>
            </a:r>
          </a:p>
        </p:txBody>
      </p:sp>
      <p:sp>
        <p:nvSpPr>
          <p:cNvPr id="17415" name="">
            <a:extLst xmlns:a="http://schemas.openxmlformats.org/drawingml/2006/main">
              <a:ext uri="{FF2B5EF4-FFF2-40B4-BE49-F238E27FC236}">
                <a16:creationId xmlns:a16="http://schemas.microsoft.com/office/drawing/2014/main" id="{EAA8B35B-8066-4DB8-B4DC-9C53ACCA2212}"/>
              </a:ext>
            </a:extLst>
          </p:cNvPr>
          <p:cNvSpPr>
            <a:spLocks xmlns:a="http://schemas.openxmlformats.org/drawingml/2006/main" noGrp="1"/>
          </p:cNvSpPr>
          <p:nvPr/>
        </p:nvSpPr>
        <p:spPr>
          <a:xfrm xmlns:a="http://schemas.openxmlformats.org/drawingml/2006/main">
            <a:off x="533400" y="2933700"/>
            <a:ext cx="204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24A7B"/>
                </a:solidFill>
                <a:latin typeface="Arial"/>
                <a:ea typeface="Arial"/>
                <a:cs typeface="Arial"/>
              </a:defRPr>
            </a:pPr>
            <a:r>
              <a:rPr sz="1725" b="1">
                <a:solidFill>
                  <a:srgbClr val="224A7B"/>
                </a:solidFill>
                <a:latin typeface="Arial"/>
                <a:ea typeface="Arial"/>
                <a:cs typeface="Arial"/>
              </a:rPr>
              <a:t>2  TELEPORT</a:t>
            </a:r>
          </a:p>
        </p:txBody>
      </p:sp>
      <p:sp>
        <p:nvSpPr>
          <p:cNvPr id="17416" name="">
            <a:extLst xmlns:a="http://schemas.openxmlformats.org/drawingml/2006/main">
              <a:ext uri="{FF2B5EF4-FFF2-40B4-BE49-F238E27FC236}">
                <a16:creationId xmlns:a16="http://schemas.microsoft.com/office/drawing/2014/main" id="{DF68FCB4-212E-4936-894B-385D0236AE01}"/>
              </a:ext>
            </a:extLst>
          </p:cNvPr>
          <p:cNvSpPr>
            <a:spLocks xmlns:a="http://schemas.openxmlformats.org/drawingml/2006/main" noGrp="1"/>
          </p:cNvSpPr>
          <p:nvPr/>
        </p:nvSpPr>
        <p:spPr>
          <a:xfrm xmlns:a="http://schemas.openxmlformats.org/drawingml/2006/main">
            <a:off x="2647950" y="2933700"/>
            <a:ext cx="8829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42F4A"/>
                </a:solidFill>
                <a:latin typeface="Arial"/>
                <a:ea typeface="Arial"/>
                <a:cs typeface="Arial"/>
              </a:defRPr>
            </a:pPr>
            <a:r>
              <a:rPr sz="1650" b="0">
                <a:solidFill>
                  <a:srgbClr val="142F4A"/>
                </a:solidFill>
                <a:latin typeface="Arial"/>
                <a:ea typeface="Arial"/>
                <a:cs typeface="Arial"/>
              </a:rPr>
              <a:t>Simulated Bell pairs carry the states; recipients apply Pauli corrections and measure.</a:t>
            </a:r>
          </a:p>
        </p:txBody>
      </p:sp>
      <p:sp>
        <p:nvSpPr>
          <p:cNvPr id="17417" name="">
            <a:extLst xmlns:a="http://schemas.openxmlformats.org/drawingml/2006/main">
              <a:ext uri="{FF2B5EF4-FFF2-40B4-BE49-F238E27FC236}">
                <a16:creationId xmlns:a16="http://schemas.microsoft.com/office/drawing/2014/main" id="{16876295-47E2-4C72-8064-F4DF8EFF4975}"/>
              </a:ext>
            </a:extLst>
          </p:cNvPr>
          <p:cNvSpPr>
            <a:spLocks xmlns:a="http://schemas.openxmlformats.org/drawingml/2006/main" noGrp="1"/>
          </p:cNvSpPr>
          <p:nvPr/>
        </p:nvSpPr>
        <p:spPr>
          <a:xfrm xmlns:a="http://schemas.openxmlformats.org/drawingml/2006/main">
            <a:off x="533400" y="3676650"/>
            <a:ext cx="204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24A7B"/>
                </a:solidFill>
                <a:latin typeface="Arial"/>
                <a:ea typeface="Arial"/>
                <a:cs typeface="Arial"/>
              </a:defRPr>
            </a:pPr>
            <a:r>
              <a:rPr sz="1725" b="1">
                <a:solidFill>
                  <a:srgbClr val="224A7B"/>
                </a:solidFill>
                <a:latin typeface="Arial"/>
                <a:ea typeface="Arial"/>
                <a:cs typeface="Arial"/>
              </a:rPr>
              <a:t>3  VERIFY</a:t>
            </a:r>
          </a:p>
        </p:txBody>
      </p:sp>
      <p:sp>
        <p:nvSpPr>
          <p:cNvPr id="17418" name="">
            <a:extLst xmlns:a="http://schemas.openxmlformats.org/drawingml/2006/main">
              <a:ext uri="{FF2B5EF4-FFF2-40B4-BE49-F238E27FC236}">
                <a16:creationId xmlns:a16="http://schemas.microsoft.com/office/drawing/2014/main" id="{CA4E5522-B4DD-4F84-8897-4CF41DB7D967}"/>
              </a:ext>
            </a:extLst>
          </p:cNvPr>
          <p:cNvSpPr>
            <a:spLocks xmlns:a="http://schemas.openxmlformats.org/drawingml/2006/main" noGrp="1"/>
          </p:cNvSpPr>
          <p:nvPr/>
        </p:nvSpPr>
        <p:spPr>
          <a:xfrm xmlns:a="http://schemas.openxmlformats.org/drawingml/2006/main">
            <a:off x="2647950" y="3676650"/>
            <a:ext cx="8829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42F4A"/>
                </a:solidFill>
                <a:latin typeface="Arial"/>
                <a:ea typeface="Arial"/>
                <a:cs typeface="Arial"/>
              </a:defRPr>
            </a:pPr>
            <a:r>
              <a:rPr sz="1650" b="0">
                <a:solidFill>
                  <a:srgbClr val="142F4A"/>
                </a:solidFill>
                <a:latin typeface="Arial"/>
                <a:ea typeface="Arial"/>
                <a:cs typeface="Arial"/>
              </a:rPr>
              <a:t>Bob accepts directly; Charlie checks a forwarded declaration with separate threshold.</a:t>
            </a:r>
          </a:p>
        </p:txBody>
      </p:sp>
      <p:sp>
        <p:nvSpPr>
          <p:cNvPr id="17419" name="">
            <a:extLst xmlns:a="http://schemas.openxmlformats.org/drawingml/2006/main">
              <a:ext uri="{FF2B5EF4-FFF2-40B4-BE49-F238E27FC236}">
                <a16:creationId xmlns:a16="http://schemas.microsoft.com/office/drawing/2014/main" id="{A6B06014-7917-4303-90FC-9DEB7D88CCE3}"/>
              </a:ext>
            </a:extLst>
          </p:cNvPr>
          <p:cNvSpPr>
            <a:spLocks xmlns:a="http://schemas.openxmlformats.org/drawingml/2006/main" noGrp="1"/>
          </p:cNvSpPr>
          <p:nvPr/>
        </p:nvSpPr>
        <p:spPr>
          <a:xfrm xmlns:a="http://schemas.openxmlformats.org/drawingml/2006/main">
            <a:off x="533400" y="4419600"/>
            <a:ext cx="204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24A7B"/>
                </a:solidFill>
                <a:latin typeface="Arial"/>
                <a:ea typeface="Arial"/>
                <a:cs typeface="Arial"/>
              </a:defRPr>
            </a:pPr>
            <a:r>
              <a:rPr sz="1725" b="1">
                <a:solidFill>
                  <a:srgbClr val="224A7B"/>
                </a:solidFill>
                <a:latin typeface="Arial"/>
                <a:ea typeface="Arial"/>
                <a:cs typeface="Arial"/>
              </a:rPr>
              <a:t>4  DETECT</a:t>
            </a:r>
          </a:p>
        </p:txBody>
      </p:sp>
      <p:sp>
        <p:nvSpPr>
          <p:cNvPr id="17420" name="">
            <a:extLst xmlns:a="http://schemas.openxmlformats.org/drawingml/2006/main">
              <a:ext uri="{FF2B5EF4-FFF2-40B4-BE49-F238E27FC236}">
                <a16:creationId xmlns:a16="http://schemas.microsoft.com/office/drawing/2014/main" id="{43D13ED4-3356-479D-8BF9-9AC79296C5B8}"/>
              </a:ext>
            </a:extLst>
          </p:cNvPr>
          <p:cNvSpPr>
            <a:spLocks xmlns:a="http://schemas.openxmlformats.org/drawingml/2006/main" noGrp="1"/>
          </p:cNvSpPr>
          <p:nvPr/>
        </p:nvSpPr>
        <p:spPr>
          <a:xfrm xmlns:a="http://schemas.openxmlformats.org/drawingml/2006/main">
            <a:off x="2647950" y="4419600"/>
            <a:ext cx="8829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42F4A"/>
                </a:solidFill>
                <a:latin typeface="Arial"/>
                <a:ea typeface="Arial"/>
                <a:cs typeface="Arial"/>
              </a:defRPr>
            </a:pPr>
            <a:r>
              <a:rPr sz="1650" b="0">
                <a:solidFill>
                  <a:srgbClr val="142F4A"/>
                </a:solidFill>
                <a:latin typeface="Arial"/>
                <a:ea typeface="Arial"/>
                <a:cs typeface="Arial"/>
              </a:rPr>
              <a:t>Six Pauli eigenstate probes, 20 fixed tests, loss checks and one-time access control.</a:t>
            </a:r>
          </a:p>
        </p:txBody>
      </p:sp>
      <p:sp>
        <p:nvSpPr>
          <p:cNvPr id="17421" name="">
            <a:extLst xmlns:a="http://schemas.openxmlformats.org/drawingml/2006/main">
              <a:ext uri="{FF2B5EF4-FFF2-40B4-BE49-F238E27FC236}">
                <a16:creationId xmlns:a16="http://schemas.microsoft.com/office/drawing/2014/main" id="{D53DCA3D-D360-4D2A-B04B-ADAB53805A92}"/>
              </a:ext>
            </a:extLst>
          </p:cNvPr>
          <p:cNvSpPr>
            <a:spLocks xmlns:a="http://schemas.openxmlformats.org/drawingml/2006/main" noGrp="1"/>
          </p:cNvSpPr>
          <p:nvPr/>
        </p:nvSpPr>
        <p:spPr>
          <a:xfrm xmlns:a="http://schemas.openxmlformats.org/drawingml/2006/main">
            <a:off x="533400" y="5162550"/>
            <a:ext cx="204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24A7B"/>
                </a:solidFill>
                <a:latin typeface="Arial"/>
                <a:ea typeface="Arial"/>
                <a:cs typeface="Arial"/>
              </a:defRPr>
            </a:pPr>
            <a:r>
              <a:rPr sz="1725" b="1">
                <a:solidFill>
                  <a:srgbClr val="224A7B"/>
                </a:solidFill>
                <a:latin typeface="Arial"/>
                <a:ea typeface="Arial"/>
                <a:cs typeface="Arial"/>
              </a:rPr>
              <a:t>5  EXPLAIN</a:t>
            </a:r>
          </a:p>
        </p:txBody>
      </p:sp>
      <p:sp>
        <p:nvSpPr>
          <p:cNvPr id="17422" name="">
            <a:extLst xmlns:a="http://schemas.openxmlformats.org/drawingml/2006/main">
              <a:ext uri="{FF2B5EF4-FFF2-40B4-BE49-F238E27FC236}">
                <a16:creationId xmlns:a16="http://schemas.microsoft.com/office/drawing/2014/main" id="{8762FB60-2321-4E0B-9060-00F3066E1E88}"/>
              </a:ext>
            </a:extLst>
          </p:cNvPr>
          <p:cNvSpPr>
            <a:spLocks xmlns:a="http://schemas.openxmlformats.org/drawingml/2006/main" noGrp="1"/>
          </p:cNvSpPr>
          <p:nvPr/>
        </p:nvSpPr>
        <p:spPr>
          <a:xfrm xmlns:a="http://schemas.openxmlformats.org/drawingml/2006/main">
            <a:off x="2647950" y="5162550"/>
            <a:ext cx="8829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42F4A"/>
                </a:solidFill>
                <a:latin typeface="Arial"/>
                <a:ea typeface="Arial"/>
                <a:cs typeface="Arial"/>
              </a:defRPr>
            </a:pPr>
            <a:r>
              <a:rPr sz="1650" b="0">
                <a:solidFill>
                  <a:srgbClr val="142F4A"/>
                </a:solidFill>
                <a:latin typeface="Arial"/>
                <a:ea typeface="Arial"/>
                <a:cs typeface="Arial"/>
              </a:rPr>
              <a:t>Export counts, bounds, assumptions, decisions and a reproducible seed.</a:t>
            </a:r>
          </a:p>
        </p:txBody>
      </p:sp>
      <p:sp>
        <p:nvSpPr>
          <p:cNvPr id="17423" name="">
            <a:extLst xmlns:a="http://schemas.openxmlformats.org/drawingml/2006/main">
              <a:ext uri="{FF2B5EF4-FFF2-40B4-BE49-F238E27FC236}">
                <a16:creationId xmlns:a16="http://schemas.microsoft.com/office/drawing/2014/main" id="{EA694B9F-9903-4E62-ABC5-6EE6B6C1D43C}"/>
              </a:ext>
            </a:extLst>
          </p:cNvPr>
          <p:cNvSpPr>
            <a:spLocks xmlns:a="http://schemas.openxmlformats.org/drawingml/2006/main" noGrp="1"/>
          </p:cNvSpPr>
          <p:nvPr/>
        </p:nvSpPr>
        <p:spPr>
          <a:xfrm xmlns:a="http://schemas.openxmlformats.org/drawingml/2006/main">
            <a:off x="533400" y="59721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4E6070"/>
                </a:solidFill>
                <a:latin typeface="Arial"/>
                <a:ea typeface="Arial"/>
                <a:cs typeface="Arial"/>
              </a:defRPr>
            </a:pPr>
            <a:r>
              <a:rPr sz="1350" b="1">
                <a:solidFill>
                  <a:srgbClr val="4E6070"/>
                </a:solidFill>
                <a:latin typeface="Arial"/>
                <a:ea typeface="Arial"/>
                <a:cs typeface="Arial"/>
              </a:rPr>
              <a:t>STACK  Python · NumPy · SQLite · standard-library HTTP · JavaScript. No AI or model training.</a:t>
            </a:r>
          </a:p>
        </p:txBody>
      </p:sp>
    </p:spTree>
    <p:extLst>
      <p:ext uri="{BB962C8B-B14F-4D97-AF65-F5344CB8AC3E}">
        <p14:creationId xmlns:p14="http://schemas.microsoft.com/office/powerpoint/2010/main" val="16043448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6941B4BE-679D-4173-BE2B-88FE5AFBCF7A}"/>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22F5BCD9-82BB-4D46-ACD4-A4AF378BF5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F296B0EC-E573-4E83-9AD8-49154B5B61D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27" name="Picture 10"/>
          <p:cNvPicPr>
            <a:picLocks xmlns:a="http://schemas.openxmlformats.org/drawingml/2006/main" noChangeAspect="1"/>
          </p:cNvPicPr>
          <p:nvPr/>
        </p:nvPicPr>
        <p:blipFill>
          <a:blip xmlns:r="http://schemas.openxmlformats.org/officeDocument/2006/relationships" xmlns:a="http://schemas.openxmlformats.org/drawingml/2006/main" r:embed="R021f95f2bd42419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029C1593-618E-4D82-B4AB-FAFECD6D37CB}"/>
              </a:ext>
            </a:extLst>
          </p:cNvPr>
          <p:cNvSpPr>
            <a:spLocks xmlns:a="http://schemas.openxmlformats.org/drawingml/2006/main" noGrp="1"/>
          </p:cNvSpPr>
          <p:nvPr/>
        </p:nvSpPr>
        <p:spPr>
          <a:xfrm xmlns:a="http://schemas.openxmlformats.org/drawingml/2006/main">
            <a:off x="533400" y="14287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Working prototype, measured against the same observations</a:t>
            </a:r>
          </a:p>
        </p:txBody>
      </p:sp>
      <p:sp>
        <p:nvSpPr>
          <p:cNvPr id="17413" name="">
            <a:extLst xmlns:a="http://schemas.openxmlformats.org/drawingml/2006/main">
              <a:ext uri="{FF2B5EF4-FFF2-40B4-BE49-F238E27FC236}">
                <a16:creationId xmlns:a16="http://schemas.microsoft.com/office/drawing/2014/main" id="{54A43BE0-923E-49DC-9D78-F55A3BDE4BDD}"/>
              </a:ext>
            </a:extLst>
          </p:cNvPr>
          <p:cNvSpPr>
            <a:spLocks xmlns:a="http://schemas.openxmlformats.org/drawingml/2006/main" noGrp="1"/>
          </p:cNvSpPr>
          <p:nvPr/>
        </p:nvSpPr>
        <p:spPr>
          <a:xfrm xmlns:a="http://schemas.openxmlformats.org/drawingml/2006/main">
            <a:off x="571500" y="21526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246"/>
          </a:bodyPr>
          <a:lstStyle xmlns:a="http://schemas.openxmlformats.org/drawingml/2006/main"/>
          <a:p xmlns:a="http://schemas.openxmlformats.org/drawingml/2006/main">
            <a:pPr algn="l">
              <a:defRPr sz="3450" b="1">
                <a:solidFill>
                  <a:srgbClr val="142F4A"/>
                </a:solidFill>
                <a:latin typeface="Arial"/>
                <a:ea typeface="Arial"/>
                <a:cs typeface="Arial"/>
              </a:defRPr>
            </a:pPr>
            <a:r>
              <a:rPr sz="3450" b="1">
                <a:solidFill>
                  <a:srgbClr val="142F4A"/>
                </a:solidFill>
                <a:latin typeface="Arial"/>
                <a:ea typeface="Arial"/>
                <a:cs typeface="Arial"/>
              </a:rPr>
              <a:t>20,000</a:t>
            </a:r>
          </a:p>
        </p:txBody>
      </p:sp>
      <p:sp>
        <p:nvSpPr>
          <p:cNvPr id="17414" name="">
            <a:extLst xmlns:a="http://schemas.openxmlformats.org/drawingml/2006/main">
              <a:ext uri="{FF2B5EF4-FFF2-40B4-BE49-F238E27FC236}">
                <a16:creationId xmlns:a16="http://schemas.microsoft.com/office/drawing/2014/main" id="{8068A14D-EB18-40F2-8326-801DB1037294}"/>
              </a:ext>
            </a:extLst>
          </p:cNvPr>
          <p:cNvSpPr>
            <a:spLocks xmlns:a="http://schemas.openxmlformats.org/drawingml/2006/main" noGrp="1"/>
          </p:cNvSpPr>
          <p:nvPr/>
        </p:nvSpPr>
        <p:spPr>
          <a:xfrm xmlns:a="http://schemas.openxmlformats.org/drawingml/2006/main">
            <a:off x="4286250" y="2152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4E6070"/>
                </a:solidFill>
                <a:latin typeface="Arial"/>
                <a:ea typeface="Arial"/>
                <a:cs typeface="Arial"/>
              </a:defRPr>
            </a:pPr>
            <a:r>
              <a:rPr sz="1725" b="0">
                <a:solidFill>
                  <a:srgbClr val="4E6070"/>
                </a:solidFill>
                <a:latin typeface="Arial"/>
                <a:ea typeface="Arial"/>
                <a:cs typeface="Arial"/>
              </a:rPr>
              <a:t>batches per channel condition</a:t>
            </a:r>
          </a:p>
        </p:txBody>
      </p:sp>
      <p:sp>
        <p:nvSpPr>
          <p:cNvPr id="17415" name="">
            <a:extLst xmlns:a="http://schemas.openxmlformats.org/drawingml/2006/main">
              <a:ext uri="{FF2B5EF4-FFF2-40B4-BE49-F238E27FC236}">
                <a16:creationId xmlns:a16="http://schemas.microsoft.com/office/drawing/2014/main" id="{2BE4C7DE-29D1-4D46-A546-46903A5723CE}"/>
              </a:ext>
            </a:extLst>
          </p:cNvPr>
          <p:cNvSpPr>
            <a:spLocks xmlns:a="http://schemas.openxmlformats.org/drawingml/2006/main" noGrp="1"/>
          </p:cNvSpPr>
          <p:nvPr/>
        </p:nvSpPr>
        <p:spPr>
          <a:xfrm xmlns:a="http://schemas.openxmlformats.org/drawingml/2006/main">
            <a:off x="571500" y="27622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BA3A40"/>
                </a:solidFill>
                <a:latin typeface="Arial"/>
                <a:ea typeface="Arial"/>
                <a:cs typeface="Arial"/>
              </a:defRPr>
            </a:pPr>
            <a:r>
              <a:rPr sz="1800" b="1">
                <a:solidFill>
                  <a:srgbClr val="BA3A40"/>
                </a:solidFill>
                <a:latin typeface="Arial"/>
                <a:ea typeface="Arial"/>
                <a:cs typeface="Arial"/>
              </a:rPr>
              <a:t>Targeted channel: pooled 0 flags; conditioned detector 19,967 flags</a:t>
            </a:r>
          </a:p>
        </p:txBody>
      </p:sp>
      <p:sp>
        <p:nvSpPr>
          <p:cNvPr id="17416" name="">
            <a:extLst xmlns:a="http://schemas.openxmlformats.org/drawingml/2006/main">
              <a:ext uri="{FF2B5EF4-FFF2-40B4-BE49-F238E27FC236}">
                <a16:creationId xmlns:a16="http://schemas.microsoft.com/office/drawing/2014/main" id="{7C0F8650-5338-4468-A947-A191BE4F727E}"/>
              </a:ext>
            </a:extLst>
          </p:cNvPr>
          <p:cNvSpPr>
            <a:spLocks xmlns:a="http://schemas.openxmlformats.org/drawingml/2006/main" noGrp="1"/>
          </p:cNvSpPr>
          <p:nvPr/>
        </p:nvSpPr>
        <p:spPr>
          <a:xfrm xmlns:a="http://schemas.openxmlformats.org/drawingml/2006/main">
            <a:off x="571500" y="322897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F4A"/>
                </a:solidFill>
                <a:latin typeface="Arial"/>
                <a:ea typeface="Arial"/>
                <a:cs typeface="Arial"/>
              </a:defRPr>
            </a:pPr>
            <a:r>
              <a:rPr sz="1725" b="1">
                <a:solidFill>
                  <a:srgbClr val="142F4A"/>
                </a:solidFill>
                <a:latin typeface="Arial"/>
                <a:ea typeface="Arial"/>
                <a:cs typeface="Arial"/>
              </a:rPr>
              <a:t>Ideal protocol trials: 200 / 200 honest accepts; 0 / 200 forged accepts</a:t>
            </a:r>
          </a:p>
        </p:txBody>
      </p:sp>
      <p:sp>
        <p:nvSpPr>
          <p:cNvPr id="17417" name="">
            <a:extLst xmlns:a="http://schemas.openxmlformats.org/drawingml/2006/main">
              <a:ext uri="{FF2B5EF4-FFF2-40B4-BE49-F238E27FC236}">
                <a16:creationId xmlns:a16="http://schemas.microsoft.com/office/drawing/2014/main" id="{E7230CB7-50B3-4D8F-9777-EBD6D8E52B05}"/>
              </a:ext>
            </a:extLst>
          </p:cNvPr>
          <p:cNvSpPr>
            <a:spLocks xmlns:a="http://schemas.openxmlformats.org/drawingml/2006/main" noGrp="1"/>
          </p:cNvSpPr>
          <p:nvPr/>
        </p:nvSpPr>
        <p:spPr>
          <a:xfrm xmlns:a="http://schemas.openxmlformats.org/drawingml/2006/main">
            <a:off x="571500" y="60579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4E6070"/>
                </a:solidFill>
                <a:latin typeface="Arial"/>
                <a:ea typeface="Arial"/>
                <a:cs typeface="Arial"/>
              </a:defRPr>
            </a:pPr>
            <a:r>
              <a:rPr sz="1200" b="0">
                <a:solidFill>
                  <a:srgbClr val="4E6070"/>
                </a:solidFill>
                <a:latin typeface="Arial"/>
                <a:ea typeface="Arial"/>
                <a:cs typeface="Arial"/>
              </a:rPr>
              <a:t>Finite-sample simulation; zero observed forgeries is not a security proof.</a:t>
            </a:r>
          </a:p>
        </p:txBody>
      </p:sp>
      <p:sp>
        <p:nvSpPr>
          <p:cNvPr id="17418" name="">
            <a:extLst xmlns:a="http://schemas.openxmlformats.org/drawingml/2006/main">
              <a:ext uri="{FF2B5EF4-FFF2-40B4-BE49-F238E27FC236}">
                <a16:creationId xmlns:a16="http://schemas.microsoft.com/office/drawing/2014/main" id="{AB9ACA51-C8F8-40A7-9465-0DB83432A746}"/>
              </a:ext>
            </a:extLst>
          </p:cNvPr>
          <p:cNvSpPr>
            <a:spLocks xmlns:a="http://schemas.openxmlformats.org/drawingml/2006/main" noGrp="1"/>
          </p:cNvSpPr>
          <p:nvPr/>
        </p:nvSpPr>
        <p:spPr>
          <a:xfrm xmlns:a="http://schemas.openxmlformats.org/drawingml/2006/main">
            <a:off x="571500" y="37909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12"/>
          </a:bodyPr>
          <a:lstStyle xmlns:a="http://schemas.openxmlformats.org/drawingml/2006/main"/>
          <a:p xmlns:a="http://schemas.openxmlformats.org/drawingml/2006/main">
            <a:pPr algn="l">
              <a:defRPr sz="1650" b="1">
                <a:solidFill>
                  <a:srgbClr val="224A7B"/>
                </a:solidFill>
                <a:latin typeface="Arial"/>
                <a:ea typeface="Arial"/>
                <a:cs typeface="Arial"/>
              </a:defRPr>
            </a:pPr>
            <a:r>
              <a:rPr sz="1650" b="1">
                <a:solidFill>
                  <a:srgbClr val="224A7B"/>
                </a:solidFill>
                <a:latin typeface="Arial"/>
                <a:ea typeface="Arial"/>
                <a:cs typeface="Arial"/>
              </a:rPr>
              <a:t>FEASIBILITY</a:t>
            </a:r>
          </a:p>
        </p:txBody>
      </p:sp>
      <p:sp>
        <p:nvSpPr>
          <p:cNvPr id="17419" name="">
            <a:extLst xmlns:a="http://schemas.openxmlformats.org/drawingml/2006/main">
              <a:ext uri="{FF2B5EF4-FFF2-40B4-BE49-F238E27FC236}">
                <a16:creationId xmlns:a16="http://schemas.microsoft.com/office/drawing/2014/main" id="{FC24EAE5-3461-4636-8434-18A3C767C77E}"/>
              </a:ext>
            </a:extLst>
          </p:cNvPr>
          <p:cNvSpPr>
            <a:spLocks xmlns:a="http://schemas.openxmlformats.org/drawingml/2006/main" noGrp="1"/>
          </p:cNvSpPr>
          <p:nvPr/>
        </p:nvSpPr>
        <p:spPr>
          <a:xfrm xmlns:a="http://schemas.openxmlformats.org/drawingml/2006/main">
            <a:off x="571500" y="414337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All 24 teleportation correction cases passed. The simulator, API, persistent replay guard, dashboard and evidence export run locally.</a:t>
            </a:r>
          </a:p>
        </p:txBody>
      </p:sp>
      <p:sp>
        <p:nvSpPr>
          <p:cNvPr id="17420" name="">
            <a:extLst xmlns:a="http://schemas.openxmlformats.org/drawingml/2006/main">
              <a:ext uri="{FF2B5EF4-FFF2-40B4-BE49-F238E27FC236}">
                <a16:creationId xmlns:a16="http://schemas.microsoft.com/office/drawing/2014/main" id="{C529892C-0E85-45CE-8BC2-2ACF50F56FEF}"/>
              </a:ext>
            </a:extLst>
          </p:cNvPr>
          <p:cNvSpPr>
            <a:spLocks xmlns:a="http://schemas.openxmlformats.org/drawingml/2006/main" noGrp="1"/>
          </p:cNvSpPr>
          <p:nvPr/>
        </p:nvSpPr>
        <p:spPr>
          <a:xfrm xmlns:a="http://schemas.openxmlformats.org/drawingml/2006/main">
            <a:off x="571500" y="4857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12"/>
          </a:bodyPr>
          <a:lstStyle xmlns:a="http://schemas.openxmlformats.org/drawingml/2006/main"/>
          <a:p xmlns:a="http://schemas.openxmlformats.org/drawingml/2006/main">
            <a:pPr algn="l">
              <a:defRPr sz="1650" b="1">
                <a:solidFill>
                  <a:srgbClr val="224A7B"/>
                </a:solidFill>
                <a:latin typeface="Arial"/>
                <a:ea typeface="Arial"/>
                <a:cs typeface="Arial"/>
              </a:defRPr>
            </a:pPr>
            <a:r>
              <a:rPr sz="1650" b="1">
                <a:solidFill>
                  <a:srgbClr val="224A7B"/>
                </a:solidFill>
                <a:latin typeface="Arial"/>
                <a:ea typeface="Arial"/>
                <a:cs typeface="Arial"/>
              </a:rPr>
              <a:t>CHALLENGE AND RESPONSE</a:t>
            </a:r>
          </a:p>
        </p:txBody>
      </p:sp>
      <p:sp>
        <p:nvSpPr>
          <p:cNvPr id="17421" name="">
            <a:extLst xmlns:a="http://schemas.openxmlformats.org/drawingml/2006/main">
              <a:ext uri="{FF2B5EF4-FFF2-40B4-BE49-F238E27FC236}">
                <a16:creationId xmlns:a16="http://schemas.microsoft.com/office/drawing/2014/main" id="{0E14DCBB-1234-4DAA-8346-B79DF76BE5BF}"/>
              </a:ext>
            </a:extLst>
          </p:cNvPr>
          <p:cNvSpPr>
            <a:spLocks xmlns:a="http://schemas.openxmlformats.org/drawingml/2006/main" noGrp="1"/>
          </p:cNvSpPr>
          <p:nvPr/>
        </p:nvSpPr>
        <p:spPr>
          <a:xfrm xmlns:a="http://schemas.openxmlformats.org/drawingml/2006/main">
            <a:off x="571500" y="5210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Physical noise, loss and calibration can mimic attacks. We report “insufficient evidence” when data are missing, quarantine model deviations, and display protocol assumptions beside every bound.</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7E237D25-A7F7-4AF3-AB11-28B72AC1C734}"/>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99BF87E8-A486-4E93-B9F1-6073282395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E8A61F6-EF9A-4316-A7C7-449C211EC00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26" name="Picture 10"/>
          <p:cNvPicPr>
            <a:picLocks xmlns:a="http://schemas.openxmlformats.org/drawingml/2006/main" noChangeAspect="1"/>
          </p:cNvPicPr>
          <p:nvPr/>
        </p:nvPicPr>
        <p:blipFill>
          <a:blip xmlns:r="http://schemas.openxmlformats.org/officeDocument/2006/relationships" xmlns:a="http://schemas.openxmlformats.org/drawingml/2006/main" r:embed="R73b418c4a5ff451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07C976D7-8B5F-4326-A7B0-587A4A93AD22}"/>
              </a:ext>
            </a:extLst>
          </p:cNvPr>
          <p:cNvSpPr>
            <a:spLocks xmlns:a="http://schemas.openxmlformats.org/drawingml/2006/main" noGrp="1"/>
          </p:cNvSpPr>
          <p:nvPr/>
        </p:nvSpPr>
        <p:spPr>
          <a:xfrm xmlns:a="http://schemas.openxmlformats.org/drawingml/2006/main">
            <a:off x="514350" y="14097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What a QDS engineer can decide from one report</a:t>
            </a:r>
          </a:p>
        </p:txBody>
      </p:sp>
      <p:sp>
        <p:nvSpPr>
          <p:cNvPr id="17413" name="">
            <a:extLst xmlns:a="http://schemas.openxmlformats.org/drawingml/2006/main">
              <a:ext uri="{FF2B5EF4-FFF2-40B4-BE49-F238E27FC236}">
                <a16:creationId xmlns:a16="http://schemas.microsoft.com/office/drawing/2014/main" id="{2BF0EA4B-98DE-42C3-B005-D0D157BD77BA}"/>
              </a:ext>
            </a:extLst>
          </p:cNvPr>
          <p:cNvSpPr>
            <a:spLocks xmlns:a="http://schemas.openxmlformats.org/drawingml/2006/main" noGrp="1"/>
          </p:cNvSpPr>
          <p:nvPr/>
        </p:nvSpPr>
        <p:spPr>
          <a:xfrm xmlns:a="http://schemas.openxmlformats.org/drawingml/2006/main">
            <a:off x="552450" y="2257425"/>
            <a:ext cx="290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224A7B"/>
                </a:solidFill>
                <a:latin typeface="Arial"/>
                <a:ea typeface="Arial"/>
                <a:cs typeface="Arial"/>
              </a:defRPr>
            </a:pPr>
            <a:r>
              <a:rPr sz="1650" b="1">
                <a:solidFill>
                  <a:srgbClr val="224A7B"/>
                </a:solidFill>
                <a:latin typeface="Arial"/>
                <a:ea typeface="Arial"/>
                <a:cs typeface="Arial"/>
              </a:rPr>
              <a:t>SIGNATURE VALIDITY</a:t>
            </a:r>
          </a:p>
        </p:txBody>
      </p:sp>
      <p:sp>
        <p:nvSpPr>
          <p:cNvPr id="17414" name="">
            <a:extLst xmlns:a="http://schemas.openxmlformats.org/drawingml/2006/main">
              <a:ext uri="{FF2B5EF4-FFF2-40B4-BE49-F238E27FC236}">
                <a16:creationId xmlns:a16="http://schemas.microsoft.com/office/drawing/2014/main" id="{85D068C6-3C07-4A75-B5E1-6B186232170A}"/>
              </a:ext>
            </a:extLst>
          </p:cNvPr>
          <p:cNvSpPr>
            <a:spLocks xmlns:a="http://schemas.openxmlformats.org/drawingml/2006/main" noGrp="1"/>
          </p:cNvSpPr>
          <p:nvPr/>
        </p:nvSpPr>
        <p:spPr>
          <a:xfrm xmlns:a="http://schemas.openxmlformats.org/drawingml/2006/main">
            <a:off x="3619500" y="2257425"/>
            <a:ext cx="766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42F4A"/>
                </a:solidFill>
                <a:latin typeface="Arial"/>
                <a:ea typeface="Arial"/>
                <a:cs typeface="Arial"/>
              </a:defRPr>
            </a:pPr>
            <a:r>
              <a:rPr sz="1725" b="0">
                <a:solidFill>
                  <a:srgbClr val="142F4A"/>
                </a:solidFill>
                <a:latin typeface="Arial"/>
                <a:ea typeface="Arial"/>
                <a:cs typeface="Arial"/>
              </a:rPr>
              <a:t>The declaration passes or fails the direct / forwarded QDS rule.</a:t>
            </a:r>
          </a:p>
        </p:txBody>
      </p:sp>
      <p:sp>
        <p:nvSpPr>
          <p:cNvPr id="17415" name="">
            <a:extLst xmlns:a="http://schemas.openxmlformats.org/drawingml/2006/main">
              <a:ext uri="{FF2B5EF4-FFF2-40B4-BE49-F238E27FC236}">
                <a16:creationId xmlns:a16="http://schemas.microsoft.com/office/drawing/2014/main" id="{C7F870A5-BA47-4C99-AF6C-E5C9C99FC631}"/>
              </a:ext>
            </a:extLst>
          </p:cNvPr>
          <p:cNvSpPr>
            <a:spLocks xmlns:a="http://schemas.openxmlformats.org/drawingml/2006/main" noGrp="1"/>
          </p:cNvSpPr>
          <p:nvPr/>
        </p:nvSpPr>
        <p:spPr>
          <a:xfrm xmlns:a="http://schemas.openxmlformats.org/drawingml/2006/main">
            <a:off x="552450" y="3324225"/>
            <a:ext cx="290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224A7B"/>
                </a:solidFill>
                <a:latin typeface="Arial"/>
                <a:ea typeface="Arial"/>
                <a:cs typeface="Arial"/>
              </a:defRPr>
            </a:pPr>
            <a:r>
              <a:rPr sz="1650" b="1">
                <a:solidFill>
                  <a:srgbClr val="224A7B"/>
                </a:solidFill>
                <a:latin typeface="Arial"/>
                <a:ea typeface="Arial"/>
                <a:cs typeface="Arial"/>
              </a:rPr>
              <a:t>CHANNEL STATUS</a:t>
            </a:r>
          </a:p>
        </p:txBody>
      </p:sp>
      <p:sp>
        <p:nvSpPr>
          <p:cNvPr id="17416" name="">
            <a:extLst xmlns:a="http://schemas.openxmlformats.org/drawingml/2006/main">
              <a:ext uri="{FF2B5EF4-FFF2-40B4-BE49-F238E27FC236}">
                <a16:creationId xmlns:a16="http://schemas.microsoft.com/office/drawing/2014/main" id="{5D9A7E3A-51A1-4B07-9E30-53BA0C7CDC7E}"/>
              </a:ext>
            </a:extLst>
          </p:cNvPr>
          <p:cNvSpPr>
            <a:spLocks xmlns:a="http://schemas.openxmlformats.org/drawingml/2006/main" noGrp="1"/>
          </p:cNvSpPr>
          <p:nvPr/>
        </p:nvSpPr>
        <p:spPr>
          <a:xfrm xmlns:a="http://schemas.openxmlformats.org/drawingml/2006/main">
            <a:off x="3619500" y="3324225"/>
            <a:ext cx="766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42F4A"/>
                </a:solidFill>
                <a:latin typeface="Arial"/>
                <a:ea typeface="Arial"/>
                <a:cs typeface="Arial"/>
              </a:defRPr>
            </a:pPr>
            <a:r>
              <a:rPr sz="1725" b="0">
                <a:solidFill>
                  <a:srgbClr val="142F4A"/>
                </a:solidFill>
                <a:latin typeface="Arial"/>
                <a:ea typeface="Arial"/>
                <a:cs typeface="Arial"/>
              </a:rPr>
              <a:t>Conditional statistics show where the operating model breaks.</a:t>
            </a:r>
          </a:p>
        </p:txBody>
      </p:sp>
      <p:sp>
        <p:nvSpPr>
          <p:cNvPr id="17417" name="">
            <a:extLst xmlns:a="http://schemas.openxmlformats.org/drawingml/2006/main">
              <a:ext uri="{FF2B5EF4-FFF2-40B4-BE49-F238E27FC236}">
                <a16:creationId xmlns:a16="http://schemas.microsoft.com/office/drawing/2014/main" id="{5F7D0E41-7E09-40D4-A05C-279872F2ED21}"/>
              </a:ext>
            </a:extLst>
          </p:cNvPr>
          <p:cNvSpPr>
            <a:spLocks xmlns:a="http://schemas.openxmlformats.org/drawingml/2006/main" noGrp="1"/>
          </p:cNvSpPr>
          <p:nvPr/>
        </p:nvSpPr>
        <p:spPr>
          <a:xfrm xmlns:a="http://schemas.openxmlformats.org/drawingml/2006/main">
            <a:off x="552450" y="4391025"/>
            <a:ext cx="290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224A7B"/>
                </a:solidFill>
                <a:latin typeface="Arial"/>
                <a:ea typeface="Arial"/>
                <a:cs typeface="Arial"/>
              </a:defRPr>
            </a:pPr>
            <a:r>
              <a:rPr sz="1650" b="1">
                <a:solidFill>
                  <a:srgbClr val="224A7B"/>
                </a:solidFill>
                <a:latin typeface="Arial"/>
                <a:ea typeface="Arial"/>
                <a:cs typeface="Arial"/>
              </a:rPr>
              <a:t>REQUEST AUTHORIZATION</a:t>
            </a:r>
          </a:p>
        </p:txBody>
      </p:sp>
      <p:sp>
        <p:nvSpPr>
          <p:cNvPr id="17418" name="">
            <a:extLst xmlns:a="http://schemas.openxmlformats.org/drawingml/2006/main">
              <a:ext uri="{FF2B5EF4-FFF2-40B4-BE49-F238E27FC236}">
                <a16:creationId xmlns:a16="http://schemas.microsoft.com/office/drawing/2014/main" id="{CA758F90-FA15-430C-B87C-5DF48C344E54}"/>
              </a:ext>
            </a:extLst>
          </p:cNvPr>
          <p:cNvSpPr>
            <a:spLocks xmlns:a="http://schemas.openxmlformats.org/drawingml/2006/main" noGrp="1"/>
          </p:cNvSpPr>
          <p:nvPr/>
        </p:nvSpPr>
        <p:spPr>
          <a:xfrm xmlns:a="http://schemas.openxmlformats.org/drawingml/2006/main">
            <a:off x="3619500" y="4391025"/>
            <a:ext cx="766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42F4A"/>
                </a:solidFill>
                <a:latin typeface="Arial"/>
                <a:ea typeface="Arial"/>
                <a:cs typeface="Arial"/>
              </a:defRPr>
            </a:pPr>
            <a:r>
              <a:rPr sz="1725" b="0">
                <a:solidFill>
                  <a:srgbClr val="142F4A"/>
                </a:solidFill>
                <a:latin typeface="Arial"/>
                <a:ea typeface="Arial"/>
                <a:cs typeface="Arial"/>
              </a:rPr>
              <a:t>Session binding, permissions and replay state control execution.</a:t>
            </a:r>
          </a:p>
        </p:txBody>
      </p:sp>
      <p:sp>
        <p:nvSpPr>
          <p:cNvPr id="17419" name="">
            <a:extLst xmlns:a="http://schemas.openxmlformats.org/drawingml/2006/main">
              <a:ext uri="{FF2B5EF4-FFF2-40B4-BE49-F238E27FC236}">
                <a16:creationId xmlns:a16="http://schemas.microsoft.com/office/drawing/2014/main" id="{2158DFFC-AAEC-46A7-845D-FE58BEFA3E1B}"/>
              </a:ext>
            </a:extLst>
          </p:cNvPr>
          <p:cNvSpPr>
            <a:spLocks xmlns:a="http://schemas.openxmlformats.org/drawingml/2006/main" noGrp="1"/>
          </p:cNvSpPr>
          <p:nvPr/>
        </p:nvSpPr>
        <p:spPr>
          <a:xfrm xmlns:a="http://schemas.openxmlformats.org/drawingml/2006/main">
            <a:off x="552450" y="556260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632"/>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Resource planner selects a supported signature length and reports Bell pairs, classical bits and applicable bounds.</a:t>
            </a:r>
          </a:p>
        </p:txBody>
      </p:sp>
      <p:sp>
        <p:nvSpPr>
          <p:cNvPr id="17420" name="">
            <a:extLst xmlns:a="http://schemas.openxmlformats.org/drawingml/2006/main">
              <a:ext uri="{FF2B5EF4-FFF2-40B4-BE49-F238E27FC236}">
                <a16:creationId xmlns:a16="http://schemas.microsoft.com/office/drawing/2014/main" id="{6BB22E4E-E9C0-44D3-AC86-0384DBFFB2FC}"/>
              </a:ext>
            </a:extLst>
          </p:cNvPr>
          <p:cNvSpPr>
            <a:spLocks xmlns:a="http://schemas.openxmlformats.org/drawingml/2006/main" noGrp="1"/>
          </p:cNvSpPr>
          <p:nvPr/>
        </p:nvSpPr>
        <p:spPr>
          <a:xfrm xmlns:a="http://schemas.openxmlformats.org/drawingml/2006/main">
            <a:off x="552450" y="6029325"/>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296"/>
          </a:bodyPr>
          <a:lstStyle xmlns:a="http://schemas.openxmlformats.org/drawingml/2006/main"/>
          <a:p xmlns:a="http://schemas.openxmlformats.org/drawingml/2006/main">
            <a:pPr algn="l">
              <a:defRPr sz="1350" b="0">
                <a:solidFill>
                  <a:srgbClr val="4E6070"/>
                </a:solidFill>
                <a:latin typeface="Arial"/>
                <a:ea typeface="Arial"/>
                <a:cs typeface="Arial"/>
              </a:defRPr>
            </a:pPr>
            <a:r>
              <a:rPr sz="1350" b="0">
                <a:solidFill>
                  <a:srgbClr val="4E6070"/>
                </a:solidFill>
                <a:latin typeface="Arial"/>
                <a:ea typeface="Arial"/>
                <a:cs typeface="Arial"/>
              </a:rPr>
              <a:t>Users: QDS researchers, quantum-network developers and security evaluators.</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C9FCE777-EC87-4D06-AEF4-9D6A4494803F}"/>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E2F404CD-67FD-41A7-879E-C5186FDD75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210D2917-F5F5-4638-89B8-78C7EE60855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34" name="Picture 11"/>
          <p:cNvPicPr>
            <a:picLocks xmlns:a="http://schemas.openxmlformats.org/drawingml/2006/main" noChangeAspect="1"/>
          </p:cNvPicPr>
          <p:nvPr/>
        </p:nvPicPr>
        <p:blipFill>
          <a:blip xmlns:r="http://schemas.openxmlformats.org/officeDocument/2006/relationships" xmlns:a="http://schemas.openxmlformats.org/drawingml/2006/main" r:embed="Rcb19771416a647bd"/>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BC30BCBA-5EB3-48E4-8275-4E83AEEFA343}"/>
              </a:ext>
            </a:extLst>
          </p:cNvPr>
          <p:cNvSpPr>
            <a:spLocks xmlns:a="http://schemas.openxmlformats.org/drawingml/2006/main" noGrp="1"/>
          </p:cNvSpPr>
          <p:nvPr/>
        </p:nvSpPr>
        <p:spPr>
          <a:xfrm xmlns:a="http://schemas.openxmlformats.org/drawingml/2006/main">
            <a:off x="542925" y="1381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56"/>
          </a:bodyPr>
          <a:lstStyle xmlns:a="http://schemas.openxmlformats.org/drawingml/2006/main"/>
          <a:p xmlns:a="http://schemas.openxmlformats.org/drawingml/2006/main">
            <a:pPr algn="l">
              <a:defRPr sz="2175" b="1">
                <a:solidFill>
                  <a:srgbClr val="224A7B"/>
                </a:solidFill>
                <a:latin typeface="Arial"/>
                <a:ea typeface="Arial"/>
                <a:cs typeface="Arial"/>
              </a:defRPr>
            </a:pPr>
            <a:r>
              <a:rPr sz="2175" b="1">
                <a:solidFill>
                  <a:srgbClr val="224A7B"/>
                </a:solidFill>
                <a:latin typeface="Arial"/>
                <a:ea typeface="Arial"/>
                <a:cs typeface="Arial"/>
              </a:rPr>
              <a:t>Protocol basis and implementation references</a:t>
            </a:r>
          </a:p>
        </p:txBody>
      </p:sp>
      <p:sp>
        <p:nvSpPr>
          <p:cNvPr id="17413" name="">
            <a:extLst xmlns:a="http://schemas.openxmlformats.org/drawingml/2006/main">
              <a:ext uri="{FF2B5EF4-FFF2-40B4-BE49-F238E27FC236}">
                <a16:creationId xmlns:a16="http://schemas.microsoft.com/office/drawing/2014/main" id="{17A2715C-53D8-4497-B3C6-69F8591DE198}"/>
              </a:ext>
            </a:extLst>
          </p:cNvPr>
          <p:cNvSpPr>
            <a:spLocks xmlns:a="http://schemas.openxmlformats.org/drawingml/2006/main" noGrp="1"/>
          </p:cNvSpPr>
          <p:nvPr/>
        </p:nvSpPr>
        <p:spPr>
          <a:xfrm xmlns:a="http://schemas.openxmlformats.org/drawingml/2006/main">
            <a:off x="552450" y="2000250"/>
            <a:ext cx="3886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Wallden et al. (2014)</a:t>
            </a:r>
          </a:p>
        </p:txBody>
      </p:sp>
      <p:sp>
        <p:nvSpPr>
          <p:cNvPr id="17414" name="">
            <a:extLst xmlns:a="http://schemas.openxmlformats.org/drawingml/2006/main">
              <a:ext uri="{FF2B5EF4-FFF2-40B4-BE49-F238E27FC236}">
                <a16:creationId xmlns:a16="http://schemas.microsoft.com/office/drawing/2014/main" id="{90F27D0E-9D6E-4015-B54D-5C5B6A46BC43}"/>
              </a:ext>
            </a:extLst>
          </p:cNvPr>
          <p:cNvSpPr>
            <a:spLocks xmlns:a="http://schemas.openxmlformats.org/drawingml/2006/main" noGrp="1"/>
          </p:cNvSpPr>
          <p:nvPr/>
        </p:nvSpPr>
        <p:spPr>
          <a:xfrm xmlns:a="http://schemas.openxmlformats.org/drawingml/2006/main">
            <a:off x="4457700" y="2000250"/>
            <a:ext cx="681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0">
                <a:solidFill>
                  <a:srgbClr val="4E6070"/>
                </a:solidFill>
                <a:latin typeface="Arial"/>
                <a:ea typeface="Arial"/>
                <a:cs typeface="Arial"/>
              </a:defRPr>
            </a:pPr>
            <a:r>
              <a:rPr sz="1425" b="0">
                <a:solidFill>
                  <a:srgbClr val="4E6070"/>
                </a:solidFill>
                <a:latin typeface="Arial"/>
                <a:ea typeface="Arial"/>
                <a:cs typeface="Arial"/>
              </a:rPr>
              <a:t>BB84 QDS, symmetrization, forgery / repudiation analysis</a:t>
            </a:r>
          </a:p>
        </p:txBody>
      </p:sp>
      <p:sp>
        <p:nvSpPr>
          <p:cNvPr id="17415" name="">
            <a:extLst xmlns:a="http://schemas.openxmlformats.org/drawingml/2006/main">
              <a:ext uri="{FF2B5EF4-FFF2-40B4-BE49-F238E27FC236}">
                <a16:creationId xmlns:a16="http://schemas.microsoft.com/office/drawing/2014/main" id="{BB931036-0F8A-451F-84DD-01983E1D5BEE}"/>
              </a:ext>
            </a:extLst>
          </p:cNvPr>
          <p:cNvSpPr>
            <a:spLocks xmlns:a="http://schemas.openxmlformats.org/drawingml/2006/main" noGrp="1"/>
          </p:cNvSpPr>
          <p:nvPr/>
        </p:nvSpPr>
        <p:spPr>
          <a:xfrm xmlns:a="http://schemas.openxmlformats.org/drawingml/2006/main">
            <a:off x="4457700" y="2276475"/>
            <a:ext cx="681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l">
              <a:defRPr sz="1350" b="0">
                <a:solidFill>
                  <a:srgbClr val="224A7B"/>
                </a:solidFill>
                <a:latin typeface="Arial"/>
                <a:ea typeface="Arial"/>
                <a:cs typeface="Arial"/>
              </a:defRPr>
            </a:pPr>
            <a:r>
              <a:rPr sz="1350" b="0">
                <a:solidFill>
                  <a:srgbClr val="224A7B"/>
                </a:solidFill>
                <a:latin typeface="Arial"/>
                <a:ea typeface="Arial"/>
                <a:cs typeface="Arial"/>
              </a:rPr>
              <a:t>arxiv.org/abs/1403.5551</a:t>
            </a:r>
          </a:p>
        </p:txBody>
      </p:sp>
      <p:sp>
        <p:nvSpPr>
          <p:cNvPr id="17416" name="">
            <a:extLst xmlns:a="http://schemas.openxmlformats.org/drawingml/2006/main">
              <a:ext uri="{FF2B5EF4-FFF2-40B4-BE49-F238E27FC236}">
                <a16:creationId xmlns:a16="http://schemas.microsoft.com/office/drawing/2014/main" id="{60A36F47-8632-4E1E-9114-A42725F5ABC5}"/>
              </a:ext>
            </a:extLst>
          </p:cNvPr>
          <p:cNvSpPr>
            <a:spLocks xmlns:a="http://schemas.openxmlformats.org/drawingml/2006/main" noGrp="1"/>
          </p:cNvSpPr>
          <p:nvPr/>
        </p:nvSpPr>
        <p:spPr>
          <a:xfrm xmlns:a="http://schemas.openxmlformats.org/drawingml/2006/main">
            <a:off x="552450" y="2781300"/>
            <a:ext cx="3886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Gottesman &amp; Chuang (2001)</a:t>
            </a:r>
          </a:p>
        </p:txBody>
      </p:sp>
      <p:sp>
        <p:nvSpPr>
          <p:cNvPr id="17417" name="">
            <a:extLst xmlns:a="http://schemas.openxmlformats.org/drawingml/2006/main">
              <a:ext uri="{FF2B5EF4-FFF2-40B4-BE49-F238E27FC236}">
                <a16:creationId xmlns:a16="http://schemas.microsoft.com/office/drawing/2014/main" id="{67A1533F-44B2-4BE9-B50A-3558FC7342A0}"/>
              </a:ext>
            </a:extLst>
          </p:cNvPr>
          <p:cNvSpPr>
            <a:spLocks xmlns:a="http://schemas.openxmlformats.org/drawingml/2006/main" noGrp="1"/>
          </p:cNvSpPr>
          <p:nvPr/>
        </p:nvSpPr>
        <p:spPr>
          <a:xfrm xmlns:a="http://schemas.openxmlformats.org/drawingml/2006/main">
            <a:off x="4457700" y="2781300"/>
            <a:ext cx="681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0">
                <a:solidFill>
                  <a:srgbClr val="4E6070"/>
                </a:solidFill>
                <a:latin typeface="Arial"/>
                <a:ea typeface="Arial"/>
                <a:cs typeface="Arial"/>
              </a:defRPr>
            </a:pPr>
            <a:r>
              <a:rPr sz="1425" b="0">
                <a:solidFill>
                  <a:srgbClr val="4E6070"/>
                </a:solidFill>
                <a:latin typeface="Arial"/>
                <a:ea typeface="Arial"/>
                <a:cs typeface="Arial"/>
              </a:rPr>
              <a:t>Foundational quantum digital signatures</a:t>
            </a:r>
          </a:p>
        </p:txBody>
      </p:sp>
      <p:sp>
        <p:nvSpPr>
          <p:cNvPr id="17418" name="">
            <a:extLst xmlns:a="http://schemas.openxmlformats.org/drawingml/2006/main">
              <a:ext uri="{FF2B5EF4-FFF2-40B4-BE49-F238E27FC236}">
                <a16:creationId xmlns:a16="http://schemas.microsoft.com/office/drawing/2014/main" id="{D56263C4-F013-4207-9EB0-1EB5318FF02C}"/>
              </a:ext>
            </a:extLst>
          </p:cNvPr>
          <p:cNvSpPr>
            <a:spLocks xmlns:a="http://schemas.openxmlformats.org/drawingml/2006/main" noGrp="1"/>
          </p:cNvSpPr>
          <p:nvPr/>
        </p:nvSpPr>
        <p:spPr>
          <a:xfrm xmlns:a="http://schemas.openxmlformats.org/drawingml/2006/main">
            <a:off x="4457700" y="3057525"/>
            <a:ext cx="681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l">
              <a:defRPr sz="1350" b="0">
                <a:solidFill>
                  <a:srgbClr val="224A7B"/>
                </a:solidFill>
                <a:latin typeface="Arial"/>
                <a:ea typeface="Arial"/>
                <a:cs typeface="Arial"/>
              </a:defRPr>
            </a:pPr>
            <a:r>
              <a:rPr sz="1350" b="0">
                <a:solidFill>
                  <a:srgbClr val="224A7B"/>
                </a:solidFill>
                <a:latin typeface="Arial"/>
                <a:ea typeface="Arial"/>
                <a:cs typeface="Arial"/>
              </a:rPr>
              <a:t>arxiv.org/abs/quant-ph/0105032</a:t>
            </a:r>
          </a:p>
        </p:txBody>
      </p:sp>
      <p:sp>
        <p:nvSpPr>
          <p:cNvPr id="17419" name="">
            <a:extLst xmlns:a="http://schemas.openxmlformats.org/drawingml/2006/main">
              <a:ext uri="{FF2B5EF4-FFF2-40B4-BE49-F238E27FC236}">
                <a16:creationId xmlns:a16="http://schemas.microsoft.com/office/drawing/2014/main" id="{25DEC297-EFD5-4B19-8870-95113D29651C}"/>
              </a:ext>
            </a:extLst>
          </p:cNvPr>
          <p:cNvSpPr>
            <a:spLocks xmlns:a="http://schemas.openxmlformats.org/drawingml/2006/main" noGrp="1"/>
          </p:cNvSpPr>
          <p:nvPr/>
        </p:nvSpPr>
        <p:spPr>
          <a:xfrm xmlns:a="http://schemas.openxmlformats.org/drawingml/2006/main">
            <a:off x="552450" y="3562350"/>
            <a:ext cx="3886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Nadeem &amp; Wang (2015)</a:t>
            </a:r>
          </a:p>
        </p:txBody>
      </p:sp>
      <p:sp>
        <p:nvSpPr>
          <p:cNvPr id="17420" name="">
            <a:extLst xmlns:a="http://schemas.openxmlformats.org/drawingml/2006/main">
              <a:ext uri="{FF2B5EF4-FFF2-40B4-BE49-F238E27FC236}">
                <a16:creationId xmlns:a16="http://schemas.microsoft.com/office/drawing/2014/main" id="{AE67B2E1-FDDE-40C7-A2FF-35E9239F1715}"/>
              </a:ext>
            </a:extLst>
          </p:cNvPr>
          <p:cNvSpPr>
            <a:spLocks xmlns:a="http://schemas.openxmlformats.org/drawingml/2006/main" noGrp="1"/>
          </p:cNvSpPr>
          <p:nvPr/>
        </p:nvSpPr>
        <p:spPr>
          <a:xfrm xmlns:a="http://schemas.openxmlformats.org/drawingml/2006/main">
            <a:off x="4457700" y="3562350"/>
            <a:ext cx="681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0">
                <a:solidFill>
                  <a:srgbClr val="4E6070"/>
                </a:solidFill>
                <a:latin typeface="Arial"/>
                <a:ea typeface="Arial"/>
                <a:cs typeface="Arial"/>
              </a:defRPr>
            </a:pPr>
            <a:r>
              <a:rPr sz="1425" b="0">
                <a:solidFill>
                  <a:srgbClr val="4E6070"/>
                </a:solidFill>
                <a:latin typeface="Arial"/>
                <a:ea typeface="Arial"/>
                <a:cs typeface="Arial"/>
              </a:rPr>
              <a:t>Teleportation-based QDS research context</a:t>
            </a:r>
          </a:p>
        </p:txBody>
      </p:sp>
      <p:sp>
        <p:nvSpPr>
          <p:cNvPr id="17421" name="">
            <a:extLst xmlns:a="http://schemas.openxmlformats.org/drawingml/2006/main">
              <a:ext uri="{FF2B5EF4-FFF2-40B4-BE49-F238E27FC236}">
                <a16:creationId xmlns:a16="http://schemas.microsoft.com/office/drawing/2014/main" id="{3B949CE2-635B-4315-9A4C-80663211D3CF}"/>
              </a:ext>
            </a:extLst>
          </p:cNvPr>
          <p:cNvSpPr>
            <a:spLocks xmlns:a="http://schemas.openxmlformats.org/drawingml/2006/main" noGrp="1"/>
          </p:cNvSpPr>
          <p:nvPr/>
        </p:nvSpPr>
        <p:spPr>
          <a:xfrm xmlns:a="http://schemas.openxmlformats.org/drawingml/2006/main">
            <a:off x="4457700" y="3838575"/>
            <a:ext cx="681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l">
              <a:defRPr sz="1350" b="0">
                <a:solidFill>
                  <a:srgbClr val="224A7B"/>
                </a:solidFill>
                <a:latin typeface="Arial"/>
                <a:ea typeface="Arial"/>
                <a:cs typeface="Arial"/>
              </a:defRPr>
            </a:pPr>
            <a:r>
              <a:rPr sz="1350" b="0">
                <a:solidFill>
                  <a:srgbClr val="224A7B"/>
                </a:solidFill>
                <a:latin typeface="Arial"/>
                <a:ea typeface="Arial"/>
                <a:cs typeface="Arial"/>
              </a:rPr>
              <a:t>arxiv.org/abs/1507.03581</a:t>
            </a:r>
          </a:p>
        </p:txBody>
      </p:sp>
      <p:sp>
        <p:nvSpPr>
          <p:cNvPr id="17422" name="">
            <a:extLst xmlns:a="http://schemas.openxmlformats.org/drawingml/2006/main">
              <a:ext uri="{FF2B5EF4-FFF2-40B4-BE49-F238E27FC236}">
                <a16:creationId xmlns:a16="http://schemas.microsoft.com/office/drawing/2014/main" id="{08004BBB-1920-4E19-867B-0C69D3E18B07}"/>
              </a:ext>
            </a:extLst>
          </p:cNvPr>
          <p:cNvSpPr>
            <a:spLocks xmlns:a="http://schemas.openxmlformats.org/drawingml/2006/main" noGrp="1"/>
          </p:cNvSpPr>
          <p:nvPr/>
        </p:nvSpPr>
        <p:spPr>
          <a:xfrm xmlns:a="http://schemas.openxmlformats.org/drawingml/2006/main">
            <a:off x="552450" y="4343400"/>
            <a:ext cx="3886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IBM Quantum Learning</a:t>
            </a:r>
          </a:p>
        </p:txBody>
      </p:sp>
      <p:sp>
        <p:nvSpPr>
          <p:cNvPr id="17423" name="">
            <a:extLst xmlns:a="http://schemas.openxmlformats.org/drawingml/2006/main">
              <a:ext uri="{FF2B5EF4-FFF2-40B4-BE49-F238E27FC236}">
                <a16:creationId xmlns:a16="http://schemas.microsoft.com/office/drawing/2014/main" id="{2BB804D7-C77C-4B21-A48A-06AEC4A4921C}"/>
              </a:ext>
            </a:extLst>
          </p:cNvPr>
          <p:cNvSpPr>
            <a:spLocks xmlns:a="http://schemas.openxmlformats.org/drawingml/2006/main" noGrp="1"/>
          </p:cNvSpPr>
          <p:nvPr/>
        </p:nvSpPr>
        <p:spPr>
          <a:xfrm xmlns:a="http://schemas.openxmlformats.org/drawingml/2006/main">
            <a:off x="4457700" y="4343400"/>
            <a:ext cx="681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0">
                <a:solidFill>
                  <a:srgbClr val="4E6070"/>
                </a:solidFill>
                <a:latin typeface="Arial"/>
                <a:ea typeface="Arial"/>
                <a:cs typeface="Arial"/>
              </a:defRPr>
            </a:pPr>
            <a:r>
              <a:rPr sz="1425" b="0">
                <a:solidFill>
                  <a:srgbClr val="4E6070"/>
                </a:solidFill>
                <a:latin typeface="Arial"/>
                <a:ea typeface="Arial"/>
                <a:cs typeface="Arial"/>
              </a:rPr>
              <a:t>Bell-pair teleportation and Pauli corrections</a:t>
            </a:r>
          </a:p>
        </p:txBody>
      </p:sp>
      <p:sp>
        <p:nvSpPr>
          <p:cNvPr id="17424" name="">
            <a:extLst xmlns:a="http://schemas.openxmlformats.org/drawingml/2006/main">
              <a:ext uri="{FF2B5EF4-FFF2-40B4-BE49-F238E27FC236}">
                <a16:creationId xmlns:a16="http://schemas.microsoft.com/office/drawing/2014/main" id="{AD597B62-B573-4F6A-B2CD-F958BA04AF1F}"/>
              </a:ext>
            </a:extLst>
          </p:cNvPr>
          <p:cNvSpPr>
            <a:spLocks xmlns:a="http://schemas.openxmlformats.org/drawingml/2006/main" noGrp="1"/>
          </p:cNvSpPr>
          <p:nvPr/>
        </p:nvSpPr>
        <p:spPr>
          <a:xfrm xmlns:a="http://schemas.openxmlformats.org/drawingml/2006/main">
            <a:off x="4457700" y="4619625"/>
            <a:ext cx="681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l">
              <a:defRPr sz="1350" b="0">
                <a:solidFill>
                  <a:srgbClr val="224A7B"/>
                </a:solidFill>
                <a:latin typeface="Arial"/>
                <a:ea typeface="Arial"/>
                <a:cs typeface="Arial"/>
              </a:defRPr>
            </a:pPr>
            <a:r>
              <a:rPr sz="1350" b="0">
                <a:solidFill>
                  <a:srgbClr val="224A7B"/>
                </a:solidFill>
                <a:latin typeface="Arial"/>
                <a:ea typeface="Arial"/>
                <a:cs typeface="Arial"/>
              </a:rPr>
              <a:t>quantum.cloud.ibm.com/learning</a:t>
            </a:r>
          </a:p>
        </p:txBody>
      </p:sp>
      <p:sp>
        <p:nvSpPr>
          <p:cNvPr id="17425" name="">
            <a:extLst xmlns:a="http://schemas.openxmlformats.org/drawingml/2006/main">
              <a:ext uri="{FF2B5EF4-FFF2-40B4-BE49-F238E27FC236}">
                <a16:creationId xmlns:a16="http://schemas.microsoft.com/office/drawing/2014/main" id="{FE72A55B-9849-44D4-A2FA-4DD052E520C5}"/>
              </a:ext>
            </a:extLst>
          </p:cNvPr>
          <p:cNvSpPr>
            <a:spLocks xmlns:a="http://schemas.openxmlformats.org/drawingml/2006/main" noGrp="1"/>
          </p:cNvSpPr>
          <p:nvPr/>
        </p:nvSpPr>
        <p:spPr>
          <a:xfrm xmlns:a="http://schemas.openxmlformats.org/drawingml/2006/main">
            <a:off x="552450" y="5124450"/>
            <a:ext cx="3886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Eagle-Eye QDS (PyPI)</a:t>
            </a:r>
          </a:p>
        </p:txBody>
      </p:sp>
      <p:sp>
        <p:nvSpPr>
          <p:cNvPr id="17426" name="">
            <a:extLst xmlns:a="http://schemas.openxmlformats.org/drawingml/2006/main">
              <a:ext uri="{FF2B5EF4-FFF2-40B4-BE49-F238E27FC236}">
                <a16:creationId xmlns:a16="http://schemas.microsoft.com/office/drawing/2014/main" id="{C1E313F8-DB1A-440A-9DCE-65738B75357C}"/>
              </a:ext>
            </a:extLst>
          </p:cNvPr>
          <p:cNvSpPr>
            <a:spLocks xmlns:a="http://schemas.openxmlformats.org/drawingml/2006/main" noGrp="1"/>
          </p:cNvSpPr>
          <p:nvPr/>
        </p:nvSpPr>
        <p:spPr>
          <a:xfrm xmlns:a="http://schemas.openxmlformats.org/drawingml/2006/main">
            <a:off x="4457700" y="5124450"/>
            <a:ext cx="681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0">
                <a:solidFill>
                  <a:srgbClr val="4E6070"/>
                </a:solidFill>
                <a:latin typeface="Arial"/>
                <a:ea typeface="Arial"/>
                <a:cs typeface="Arial"/>
              </a:defRPr>
            </a:pPr>
            <a:r>
              <a:rPr sz="1425" b="0">
                <a:solidFill>
                  <a:srgbClr val="4E6070"/>
                </a:solidFill>
                <a:latin typeface="Arial"/>
                <a:ea typeface="Arial"/>
                <a:cs typeface="Arial"/>
              </a:rPr>
              <a:t>Comparison baseline for explainable, statistical QDS tools</a:t>
            </a:r>
          </a:p>
        </p:txBody>
      </p:sp>
      <p:sp>
        <p:nvSpPr>
          <p:cNvPr id="17427" name="">
            <a:extLst xmlns:a="http://schemas.openxmlformats.org/drawingml/2006/main">
              <a:ext uri="{FF2B5EF4-FFF2-40B4-BE49-F238E27FC236}">
                <a16:creationId xmlns:a16="http://schemas.microsoft.com/office/drawing/2014/main" id="{80858ADF-EC06-4D56-BE2B-8604F9CEA4CF}"/>
              </a:ext>
            </a:extLst>
          </p:cNvPr>
          <p:cNvSpPr>
            <a:spLocks xmlns:a="http://schemas.openxmlformats.org/drawingml/2006/main" noGrp="1"/>
          </p:cNvSpPr>
          <p:nvPr/>
        </p:nvSpPr>
        <p:spPr>
          <a:xfrm xmlns:a="http://schemas.openxmlformats.org/drawingml/2006/main">
            <a:off x="4457700" y="5400675"/>
            <a:ext cx="681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l">
              <a:defRPr sz="1350" b="0">
                <a:solidFill>
                  <a:srgbClr val="224A7B"/>
                </a:solidFill>
                <a:latin typeface="Arial"/>
                <a:ea typeface="Arial"/>
                <a:cs typeface="Arial"/>
              </a:defRPr>
            </a:pPr>
            <a:r>
              <a:rPr sz="1350" b="0">
                <a:solidFill>
                  <a:srgbClr val="224A7B"/>
                </a:solidFill>
                <a:latin typeface="Arial"/>
                <a:ea typeface="Arial"/>
                <a:cs typeface="Arial"/>
              </a:rPr>
              <a:t>pypi.org/project/eagle-eye-qds/</a:t>
            </a:r>
          </a:p>
        </p:txBody>
      </p:sp>
      <p:sp>
        <p:nvSpPr>
          <p:cNvPr id="17428" name="">
            <a:extLst xmlns:a="http://schemas.openxmlformats.org/drawingml/2006/main">
              <a:ext uri="{FF2B5EF4-FFF2-40B4-BE49-F238E27FC236}">
                <a16:creationId xmlns:a16="http://schemas.microsoft.com/office/drawing/2014/main" id="{7B5290C0-CC5C-491E-8231-BD03784B43D5}"/>
              </a:ext>
            </a:extLst>
          </p:cNvPr>
          <p:cNvSpPr>
            <a:spLocks xmlns:a="http://schemas.openxmlformats.org/drawingml/2006/main" noGrp="1"/>
          </p:cNvSpPr>
          <p:nvPr/>
        </p:nvSpPr>
        <p:spPr>
          <a:xfrm xmlns:a="http://schemas.openxmlformats.org/drawingml/2006/main">
            <a:off x="552450" y="5962650"/>
            <a:ext cx="1081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Original contribution: condition-aware detection, assumption-linked bounds and repeatable adversarial evaluation.</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2026-10-05T14:55:00.9910000Z</dcterms:created>
  <dcterms:modified xsi:type="dcterms:W3CDTF">2026-10-05T14:55:00.9910000Z</dcterms:modified>
</coreProperties>
</file>