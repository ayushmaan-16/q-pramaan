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c25a898f80c43bf" /><Relationship Type="http://schemas.openxmlformats.org/officeDocument/2006/relationships/extended-properties" Target="/docProps/app.xml" Id="R8489b70d2ce441be" /><Relationship Type="http://schemas.openxmlformats.org/officeDocument/2006/relationships/officeDocument" Target="/ppt/presentation.xml" Id="Rcfecd6a628bf48e0" /></Relationships>
</file>

<file path=ppt/presentation.xml><?xml version="1.0" encoding="utf-8"?>
<p:presentation xmlns:p="http://schemas.openxmlformats.org/presentationml/2006/main">
  <p:sldMasterIdLst>
    <p:sldMasterId xmlns:r="http://schemas.openxmlformats.org/officeDocument/2006/relationships" id="2147483648" r:id="Re56ed40b4be4484c"/>
  </p:sldMasterIdLst>
  <p:notesMasterIdLst>
    <p:notesMasterId xmlns:r="http://schemas.openxmlformats.org/officeDocument/2006/relationships" r:id="Ra10f833b1ba74d95"/>
  </p:notesMasterIdLst>
  <p:sldIdLst>
    <p:sldId xmlns:r="http://schemas.openxmlformats.org/officeDocument/2006/relationships" id="256" r:id="R848c24965307474d"/>
    <p:sldId xmlns:r="http://schemas.openxmlformats.org/officeDocument/2006/relationships" id="257" r:id="R62999125f2bf4aba"/>
    <p:sldId xmlns:r="http://schemas.openxmlformats.org/officeDocument/2006/relationships" id="258" r:id="R5417d8a9fe924e3d"/>
    <p:sldId xmlns:r="http://schemas.openxmlformats.org/officeDocument/2006/relationships" id="259" r:id="R659f468c6f814820"/>
    <p:sldId xmlns:r="http://schemas.openxmlformats.org/officeDocument/2006/relationships" id="260" r:id="Rc5de5a1a80ab4cc2"/>
    <p:sldId xmlns:r="http://schemas.openxmlformats.org/officeDocument/2006/relationships" id="261" r:id="Rb00428b14df5426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abeb78968434103" /><Relationship Type="http://schemas.openxmlformats.org/officeDocument/2006/relationships/slideMaster" Target="/ppt/slideMasters/slideMaster1.xml" Id="Re56ed40b4be4484c" /><Relationship Type="http://schemas.openxmlformats.org/officeDocument/2006/relationships/notesMaster" Target="/ppt/notesMasters/notesMaster1.xml" Id="Ra10f833b1ba74d95" /><Relationship Type="http://schemas.openxmlformats.org/officeDocument/2006/relationships/presProps" Target="/ppt/presProps.xml" Id="R4c4a9455b2d246a4" /><Relationship Type="http://schemas.openxmlformats.org/officeDocument/2006/relationships/viewProps" Target="/ppt/viewProps.xml" Id="R2e9bbb368fee4280" /><Relationship Type="http://schemas.openxmlformats.org/officeDocument/2006/relationships/tableStyles" Target="/ppt/tableStyles.xml" Id="R03a8a8f51a3e40f8" /><Relationship Type="http://schemas.openxmlformats.org/officeDocument/2006/relationships/slide" Target="/ppt/slides/slide1.xml" Id="R848c24965307474d" /><Relationship Type="http://schemas.openxmlformats.org/officeDocument/2006/relationships/slide" Target="/ppt/slides/slide2.xml" Id="R62999125f2bf4aba" /><Relationship Type="http://schemas.openxmlformats.org/officeDocument/2006/relationships/slide" Target="/ppt/slides/slide3.xml" Id="R5417d8a9fe924e3d" /><Relationship Type="http://schemas.openxmlformats.org/officeDocument/2006/relationships/slide" Target="/ppt/slides/slide4.xml" Id="R659f468c6f814820" /><Relationship Type="http://schemas.openxmlformats.org/officeDocument/2006/relationships/slide" Target="/ppt/slides/slide5.xml" Id="Rc5de5a1a80ab4cc2" /><Relationship Type="http://schemas.openxmlformats.org/officeDocument/2006/relationships/slide" Target="/ppt/slides/slide6.xml" Id="Rb00428b14df5426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383bf3c61a423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d10192c71f4b2c" /><Relationship Type="http://schemas.openxmlformats.org/officeDocument/2006/relationships/notesMaster" Target="/ppt/notesMasters/notesMaster1.xml" Id="R90ae48c7924c4dda"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20510aca2b4f9b" /><Relationship Type="http://schemas.openxmlformats.org/officeDocument/2006/relationships/notesMaster" Target="/ppt/notesMasters/notesMaster1.xml" Id="Ree27b40137384eec" /></Relationships>
</file>

<file path=ppt/notesSlides/_rels/notesSlide3.xml.rels>&#65279;<?xml version="1.0" encoding="utf-8"?><Relationships xmlns="http://schemas.openxmlformats.org/package/2006/relationships"><Relationship Type="http://schemas.openxmlformats.org/officeDocument/2006/relationships/slide" Target="/ppt/slides/slide3.xml" Id="Rd2bb52cda2ca470f" /><Relationship Type="http://schemas.openxmlformats.org/officeDocument/2006/relationships/notesMaster" Target="/ppt/notesMasters/notesMaster1.xml" Id="R2ced891cb4e349ec"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f31354524f4594" /><Relationship Type="http://schemas.openxmlformats.org/officeDocument/2006/relationships/notesMaster" Target="/ppt/notesMasters/notesMaster1.xml" Id="R5935b44650df41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2893db5db86544dd" /><Relationship Type="http://schemas.openxmlformats.org/officeDocument/2006/relationships/notesMaster" Target="/ppt/notesMasters/notesMaster1.xml" Id="R1818001add6d4da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ff67121e1e7483d" /><Relationship Type="http://schemas.openxmlformats.org/officeDocument/2006/relationships/notesMaster" Target="/ppt/notesMasters/notesMaster1.xml" Id="Rd9527b66b14340b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SIH 2026 problem statement: Quantum-Inspired Cyber Threat Detection for Digital Signature Security, Egreen Quanta. Team Cache Hit, ID 125961. Q-PRAMAAN is a software simulation, not a physical quantum deployment. The 2% figure is the expected aggregate diagnostic error in the illustrative ordinary and targeted channel models.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Illustrative independent Pauli-channel model: ordinary error rate is 2% in each of four Bell-outcome groups. Targeted condition is 8% in group 00 and 0% in the other three, giving the same 2% expected pooled rate. This chart displays model rates, not measurements from a particular experiment. The signature workflow adapts the BB84 P1-prime approach with simulated teleportation. Sources: Wallden et al. https://arxiv.org/abs/1403.5551 ; IBM Quantum teleportation https://quantum.cloud.ibm.com/learning/en/courses/basics-of-quantum-information/entanglement-in-action/quantum-teleportation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Alice, Bob and Charlie follow a teleportation-assisted adaptation of the BB84 P1-prime QDS workflow. Four BB84 states are used in the signature protocol; six Pauli eigenstates appear in diagnostic validation. The channel checks are distinct from signature declaration mismatches. One-time classical authentication and a SQLite execution receipt handle impersonation and replay in the simulated local lab. Technical sources: Wallden et al. https://arxiv.org/abs/1403.5551 ; Nadeem and Wang https://arxiv.org/abs/1507.03581 ; IBM Quantum teleportation tutorial. The adaptation does not inherit all security proofs of the source protocol.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Measured benchmark: output/benchmark.json on repository main at merge a663fab. 20,000 independent batches for each channel condition, seed 26141, 2,048 diagnostic probes per Bell outcome. Targeted channel flagged in 0/20,000 pooled batches and 19,967/20,000 conditional batches. Ordinary channel produced 0 observed flags for both detectors in 20,000 batches. The 1% family false-alarm allowance is an upper bound under the model, not the observed zero rate. Protocol benchmark with L=2,048: 200/200 honest accepts and 0/200 dishonest-recipient forgery accepts. These are finite-sample simulations, not a physical security proof or proof of zero forgery probability.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This slide demonstrates separate signature, channel, authorization, and derived operation decisions. The targeted-channel example is a conceptualized result from the implemented scenario. Channel anomaly means inconsistency with the declared operating model and does not prove an attacker identity or intent. The replay scenario preserves signature validity while the SQLite receipt ledger denies duplicate execution. Engineers can inspect counts and bounds, export evidence, and use the resource planner. The framework controls access to its service, not information already disclosed to a legitimate recipient.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Wallden et al. https://arxiv.org/abs/1403.5551 ; Gottesman and Chuang https://arxiv.org/abs/quant-ph/0105032 ; Nadeem and Wang https://arxiv.org/abs/1507.03581 ; IBM Quantum Learning https://quantum.cloud.ibm.com/learning/en/courses/basics-of-quantum-information/entanglement-in-action/quantum-teleportation . Related tool comparison: Eagle-Eye QDS https://pypi.org/project/eagle-eye-qds/ . Project source and benchmark: https://github.com/ayushmaan-16/Q-PRAMAAN . Security bounds are conditional on the referenced protocol assumptions and are not automatically transferred to the teleportation-assisted adaptation.</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41542b6d9a484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6b7ac2c4e3f4b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0bfb099818a4a5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701a7cc082244c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7aeb07ec1414e5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cc438c94bcd45c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05628e80bfef47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18f3e2313764ea6"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28106078ee5c47d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f3731db709d14418"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596ab7c7255f4514"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01621A7-637D-4E9F-8DB6-883EE27FC87E}"/>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7B25550D-9F53-4ABB-B226-51F9E03FFAA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57FDB047-398D-4EE9-B220-BD82717E81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38CB9A57-93D5-4216-8C41-8982147E787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448952B-19B9-48F8-B383-0140F0C8F8E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0E67F2C-0148-46DC-ACE2-72440A308C9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9EC62E45-3077-4899-B09C-FAE44632B8B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7CC8847-9671-432F-81B7-7694D73B7EB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05A73AA2-AADF-40ED-B3A3-B5BACAE7DBD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651E8D7-879A-4CD6-B8FF-CB056371F0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AD7C0CA-BCAF-41F6-B3E8-EA102FEC635F}"/>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392113D5-C698-492F-A381-3FF290284496}"/>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E8C13CAE-57D1-44DD-B80A-D42CA4B176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C505BA9E-A77B-4EFE-9FAB-029465063D9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1834DB9A-AC4F-4C20-9F72-747BB2914C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5707220-BB91-45A8-8E67-4D62F901CBF7}"/>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CE8C29A-DCCD-4D6F-A1F7-2AABD9EAD577}"/>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A9703A92-0993-4370-B749-5BBB1244C01D}"/>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7745BC3B-0DFE-4A4C-8803-25672964433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419DD1B-7996-4EEC-9C8A-D8E6742E0C5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42E43DF5-6EF6-4489-8D65-33D3DA17F67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4BCF003-1183-469D-9D68-70C2FFF60F15}"/>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CA3414B-88A2-4915-9A65-41F1D3E107B4}"/>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6FBDEEE-0863-440A-93BF-8D409EB61FEB}"/>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AEFD7EBA-586C-49CD-9F88-5B63C47AF671}"/>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28C45051-07F9-4554-A8B3-F88214D664B5}"/>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89F5669A-48CC-4B1C-BA8E-C3D79FFA9B8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EDBFBA9A-04C5-4573-AF17-35A9FFE343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83E4E9A0-8E62-466A-A5DD-5BBFB62402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834D743-C119-47E7-A29C-97046852D96B}"/>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CA601F49-6D2C-4A7D-8879-F7A52880ADA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2478A0FB-FCB9-43B9-92BB-B9F9E204942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6DCCDE30-A76F-4223-927A-311A40D7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348CAD92-FE85-46A0-B37E-86FB58B4D8C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3562DE9F-CA35-48BD-B2BA-D702C928AF4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C8451E7A-CB5A-4960-85AE-FF6F16BB244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31B729-34FF-4753-B213-7FCA8F0EE904}"/>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1B668F7F-4417-4DDA-AF3A-982299FECD8D}"/>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527F4AC6-6487-4762-AF80-288F6053FD59}"/>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82C43E9C-F538-49D2-B7BB-61CD14C39C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F261E963-773E-4967-9A54-A989B1D642C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1964C49D-B49C-44B7-AA4D-F3C96F17229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BBDBE8F-0045-4B53-BC10-79BD1C5DB12D}"/>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1A81EF91-EB75-413D-A37F-8CECDA968E7F}"/>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8290CDE2-FEF9-4A07-85A1-6005259AD8F4}"/>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68A3B851-5F56-46A2-91EF-D27816376C2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8F52D368-F83F-4825-A84D-0A7927C23F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5F8297C-3048-4F47-ABCE-74E22E9A484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D28384F-A8B3-4727-B1C6-091AAA5CC8A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B5E6E1CE-86ED-4BC5-AB9B-C581A158B963}"/>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91425D95-1834-4884-A96A-CD35CD398DA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316214C7-10E0-4D95-910F-0895CA1A17F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EEBDD5AD-B29C-4F4D-81CE-3A871929B7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953920EF-98F4-445D-9BAE-A205A3DBD480}"/>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C2B15B6B-1C51-494D-BFCE-5EC25BADE9F0}"/>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F2C658EC-3198-4F2C-A01D-E37A887F386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B77514F-CF88-4B1F-B899-F30ED6D7696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627C6DDC-DA8A-4C78-99E3-489A61CE6C6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a36fcf210ae4e0e" /><Relationship Type="http://schemas.openxmlformats.org/officeDocument/2006/relationships/slideLayout" Target="/ppt/slideLayouts/slideLayout1.xml" Id="R2bfc6dbe10994a41" /><Relationship Type="http://schemas.openxmlformats.org/officeDocument/2006/relationships/slideLayout" Target="/ppt/slideLayouts/slideLayout2.xml" Id="Raa581d0c561f414c" /><Relationship Type="http://schemas.openxmlformats.org/officeDocument/2006/relationships/slideLayout" Target="/ppt/slideLayouts/slideLayout3.xml" Id="Rb85e3c51162d4ef3" /><Relationship Type="http://schemas.openxmlformats.org/officeDocument/2006/relationships/slideLayout" Target="/ppt/slideLayouts/slideLayout4.xml" Id="R216ec524f7664b3c" /><Relationship Type="http://schemas.openxmlformats.org/officeDocument/2006/relationships/slideLayout" Target="/ppt/slideLayouts/slideLayout5.xml" Id="R24bd82b5e4cc4b9d" /><Relationship Type="http://schemas.openxmlformats.org/officeDocument/2006/relationships/slideLayout" Target="/ppt/slideLayouts/slideLayout6.xml" Id="R68bebaf8c5bf432c" /><Relationship Type="http://schemas.openxmlformats.org/officeDocument/2006/relationships/slideLayout" Target="/ppt/slideLayouts/slideLayout7.xml" Id="R506551b8201e46ac" /><Relationship Type="http://schemas.openxmlformats.org/officeDocument/2006/relationships/slideLayout" Target="/ppt/slideLayouts/slideLayout8.xml" Id="R01c595b655e24faa" /><Relationship Type="http://schemas.openxmlformats.org/officeDocument/2006/relationships/slideLayout" Target="/ppt/slideLayouts/slideLayout9.xml" Id="Ra377a57209c345cd" /><Relationship Type="http://schemas.openxmlformats.org/officeDocument/2006/relationships/slideLayout" Target="/ppt/slideLayouts/slideLayout10.xml" Id="R16151aab7c4d4914" /><Relationship Type="http://schemas.openxmlformats.org/officeDocument/2006/relationships/slideLayout" Target="/ppt/slideLayouts/slideLayout11.xml" Id="Ra6774de4e9c64b7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159C467F-10D3-4403-96B4-FDF79855800F}"/>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7879AAE0-44F0-4518-BD12-0D266F2AA9A1}"/>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69E552D6-4CF1-4C55-8ADE-AB6B355D1B21}"/>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480CD49-5DA6-4818-93E4-C3131FDC06D8}"/>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956F5E0-7A32-4F69-9D67-9ADE41E69C4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bfc6dbe10994a41"/>
    <p:sldLayoutId xmlns:r="http://schemas.openxmlformats.org/officeDocument/2006/relationships" id="2147483650" r:id="Raa581d0c561f414c"/>
    <p:sldLayoutId xmlns:r="http://schemas.openxmlformats.org/officeDocument/2006/relationships" id="2147483651" r:id="Rb85e3c51162d4ef3"/>
    <p:sldLayoutId xmlns:r="http://schemas.openxmlformats.org/officeDocument/2006/relationships" id="2147483652" r:id="R216ec524f7664b3c"/>
    <p:sldLayoutId xmlns:r="http://schemas.openxmlformats.org/officeDocument/2006/relationships" id="2147483653" r:id="R24bd82b5e4cc4b9d"/>
    <p:sldLayoutId xmlns:r="http://schemas.openxmlformats.org/officeDocument/2006/relationships" id="2147483654" r:id="R68bebaf8c5bf432c"/>
    <p:sldLayoutId xmlns:r="http://schemas.openxmlformats.org/officeDocument/2006/relationships" id="2147483655" r:id="R506551b8201e46ac"/>
    <p:sldLayoutId xmlns:r="http://schemas.openxmlformats.org/officeDocument/2006/relationships" id="2147483656" r:id="R01c595b655e24faa"/>
    <p:sldLayoutId xmlns:r="http://schemas.openxmlformats.org/officeDocument/2006/relationships" id="2147483657" r:id="Ra377a57209c345cd"/>
    <p:sldLayoutId xmlns:r="http://schemas.openxmlformats.org/officeDocument/2006/relationships" id="2147483658" r:id="R16151aab7c4d4914"/>
    <p:sldLayoutId xmlns:r="http://schemas.openxmlformats.org/officeDocument/2006/relationships" id="2147483659" r:id="Ra6774de4e9c64b74"/>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dd8c07065f421f" /><Relationship Type="http://schemas.openxmlformats.org/officeDocument/2006/relationships/image" Target="/ppt/media/image.png" Id="Rc32f6b1d0c7e46d5" /><Relationship Type="http://schemas.openxmlformats.org/officeDocument/2006/relationships/image" Target="/ppt/media/image2.png" Id="Ra1adf7c7a28c4c08" /><Relationship Type="http://schemas.openxmlformats.org/officeDocument/2006/relationships/notesSlide" Target="/ppt/notesSlides/notesSlide1.xml" Id="Rbe264f3a786e4fe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7d4ffc57e40745c2" /><Relationship Type="http://schemas.openxmlformats.org/officeDocument/2006/relationships/image" Target="/ppt/media/image2.png" Id="Rbd2becae32ba4eb6" /><Relationship Type="http://schemas.openxmlformats.org/officeDocument/2006/relationships/chart" Target="/ppt/slides/charts/chart1.xml" Id="Rb2abe86c88a34ab4" /><Relationship Type="http://schemas.openxmlformats.org/officeDocument/2006/relationships/notesSlide" Target="/ppt/notesSlides/notesSlide2.xml" Id="R51c821db065547f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e0d76813b97345ab" /><Relationship Type="http://schemas.openxmlformats.org/officeDocument/2006/relationships/image" Target="/ppt/media/image2.png" Id="R898526085a5341ed" /><Relationship Type="http://schemas.openxmlformats.org/officeDocument/2006/relationships/notesSlide" Target="/ppt/notesSlides/notesSlide3.xml" Id="R6cf9afdac2e64ada"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e927e69402db45cf" /><Relationship Type="http://schemas.openxmlformats.org/officeDocument/2006/relationships/image" Target="/ppt/media/image2.png" Id="R6539f3ccc98142ef" /><Relationship Type="http://schemas.openxmlformats.org/officeDocument/2006/relationships/chart" Target="/ppt/slides/charts/chart2.xml" Id="R5e9ac2fe9fa3417c" /><Relationship Type="http://schemas.openxmlformats.org/officeDocument/2006/relationships/notesSlide" Target="/ppt/notesSlides/notesSlide4.xml" Id="R47f2234675b44ed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a9b137a2fb849da" /><Relationship Type="http://schemas.openxmlformats.org/officeDocument/2006/relationships/image" Target="/ppt/media/image2.png" Id="R40600b8a45d14aa7" /><Relationship Type="http://schemas.openxmlformats.org/officeDocument/2006/relationships/notesSlide" Target="/ppt/notesSlides/notesSlide5.xml" Id="Rfb5a050d6d3b441b"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1d451168243f45e2" /><Relationship Type="http://schemas.openxmlformats.org/officeDocument/2006/relationships/image" Target="/ppt/media/image2.png" Id="R84e9c8f36d584876" /><Relationship Type="http://schemas.openxmlformats.org/officeDocument/2006/relationships/notesSlide" Target="/ppt/notesSlides/notesSlide6.xml" Id="Rab55ec7422eb481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Ordinary channel</c:v>
          </c:tx>
          <c:spPr>
            <a:solidFill xmlns:a="http://schemas.openxmlformats.org/drawingml/2006/main">
              <a:srgbClr val="0876BE"/>
            </a:solidFill>
          </c:spPr>
          <c:cat>
            <c:numRef>
              <c:f>'Chart Data'!$A$2:$A$5</c:f>
              <c:numCache>
                <c:formatCode>General</c:formatCode>
                <c:ptCount val="4"/>
                <c:pt idx="0">
                  <c:v>00</c:v>
                </c:pt>
                <c:pt idx="1">
                  <c:v>01</c:v>
                </c:pt>
                <c:pt idx="2">
                  <c:v>10</c:v>
                </c:pt>
                <c:pt idx="3">
                  <c:v>11</c:v>
                </c:pt>
              </c:numCache>
            </c:numRef>
          </c:cat>
          <c:val>
            <c:numRef>
              <c:f>'Chart Data'!$B$2:$B$5</c:f>
              <c:numCache>
                <c:formatCode>0%</c:formatCode>
                <c:ptCount val="4"/>
                <c:pt idx="0">
                  <c:v>0.02</c:v>
                </c:pt>
                <c:pt idx="1">
                  <c:v>0.02</c:v>
                </c:pt>
                <c:pt idx="2">
                  <c:v>0.02</c:v>
                </c:pt>
                <c:pt idx="3">
                  <c:v>0.02</c:v>
                </c:pt>
              </c:numCache>
            </c:numRef>
          </c:val>
        </c:ser>
        <c:ser>
          <c:idx val="1"/>
          <c:order val="1"/>
          <c:tx>
            <c:v>Targeted channel</c:v>
          </c:tx>
          <c:spPr>
            <a:solidFill xmlns:a="http://schemas.openxmlformats.org/drawingml/2006/main">
              <a:srgbClr val="F27922"/>
            </a:solidFill>
          </c:spPr>
          <c:cat>
            <c:numRef>
              <c:f>'Chart Data'!$C$2:$C$5</c:f>
              <c:numCache>
                <c:formatCode>General</c:formatCode>
                <c:ptCount val="4"/>
                <c:pt idx="0">
                  <c:v>00</c:v>
                </c:pt>
                <c:pt idx="1">
                  <c:v>01</c:v>
                </c:pt>
                <c:pt idx="2">
                  <c:v>10</c:v>
                </c:pt>
                <c:pt idx="3">
                  <c:v>11</c:v>
                </c:pt>
              </c:numCache>
            </c:numRef>
          </c:cat>
          <c:val>
            <c:numRef>
              <c:f>'Chart Data'!$D$2:$D$5</c:f>
              <c:numCache>
                <c:formatCode>0%</c:formatCode>
                <c:ptCount val="4"/>
                <c:pt idx="0">
                  <c:v>0.08</c:v>
                </c:pt>
                <c:pt idx="1">
                  <c:v>0</c:v>
                </c:pt>
                <c:pt idx="2">
                  <c:v>0</c:v>
                </c:pt>
                <c:pt idx="3">
                  <c:v>0</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4ED"/>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4A"/>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E5EDF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477"/>
                </a:solidFill>
                <a:latin typeface="Arial"/>
                <a:ea typeface="Arial"/>
                <a:cs typeface="Arial"/>
              </a:defRPr>
            </a:pPr>
          </a:p>
        </c:txPr>
        <c:crossAx val="48650112"/>
        <c:crossBetween val="between"/>
        <c:majorUnit val="0.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142F4A"/>
              </a:solidFill>
              <a:latin typeface="Arial"/>
              <a:ea typeface="Arial"/>
              <a:cs typeface="Arial"/>
            </a:defRPr>
          </a:pPr>
        </a:p>
      </c:txPr>
    </c:legend>
    <c:plotVisOnly val="1"/>
  </c:chart>
  <c:spPr>
    <a:noFill xmlns:a="http://schemas.openxmlformats.org/drawingml/2006/mai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Batches flagged</c:v>
          </c:tx>
          <c:spPr>
            <a:solidFill xmlns:a="http://schemas.openxmlformats.org/drawingml/2006/main">
              <a:srgbClr val="F27922"/>
            </a:solidFill>
          </c:spPr>
          <c:dPt>
            <c:idx val="0"/>
            <c:invertIfNegative val="0"/>
            <c:spPr>
              <a:solidFill xmlns:a="http://schemas.openxmlformats.org/drawingml/2006/main">
                <a:srgbClr val="0876BE"/>
              </a:solidFill>
            </c:spPr>
          </c:dPt>
          <c:dPt>
            <c:idx val="1"/>
            <c:invertIfNegative val="0"/>
            <c:spPr>
              <a:solidFill xmlns:a="http://schemas.openxmlformats.org/drawingml/2006/main">
                <a:srgbClr val="F27922"/>
              </a:solidFill>
            </c:spPr>
          </c:dPt>
          <c:cat>
            <c:strRef>
              <c:f>'Chart Data'!$A$2:$A$3</c:f>
              <c:strCache>
                <c:ptCount val="2"/>
                <c:pt idx="0">
                  <c:v>Pooled check</c:v>
                </c:pt>
                <c:pt idx="1">
                  <c:v>Outcome-conditioned</c:v>
                </c:pt>
              </c:strCache>
            </c:strRef>
          </c:cat>
          <c:val>
            <c:numRef>
              <c:f>'Chart Data'!$B$2:$B$3</c:f>
              <c:numCache>
                <c:formatCode>#,##0</c:formatCode>
                <c:ptCount val="2"/>
                <c:pt idx="0">
                  <c:v>0</c:v>
                </c:pt>
                <c:pt idx="1">
                  <c:v>19967</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5EDF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526477"/>
                </a:solidFill>
                <a:latin typeface="Arial"/>
                <a:ea typeface="Arial"/>
                <a:cs typeface="Arial"/>
              </a:defRPr>
            </a:pPr>
          </a:p>
        </c:txPr>
        <c:crossAx val="48672768"/>
      </c:catAx>
      <c:valAx>
        <c:axId val="48672768"/>
        <c:scaling>
          <c:orientation val="minMax"/>
          <c:max val="20000"/>
          <c:min val="0"/>
        </c:scaling>
        <c:delete val="0"/>
        <c:axPos val="b"/>
        <c:numFmt formatCode="#,##0"/>
        <c:majorTickMark val="none"/>
        <c:minorTickMark val="none"/>
        <c:spPr>
          <a:ln xmlns:a="http://schemas.openxmlformats.org/drawingml/2006/main" w="9525">
            <a:solidFill>
              <a:srgbClr val="D9E4ED"/>
            </a:solidFill>
            <a:prstDash val="solid"/>
          </a:ln>
        </c:spPr>
        <c:txPr>
          <a:bodyPr xmlns:a="http://schemas.openxmlformats.org/drawingml/2006/main" anchorCtr="1"/>
          <a:lstStyle xmlns:a="http://schemas.openxmlformats.org/drawingml/2006/main"/>
          <a:p xmlns:a="http://schemas.openxmlformats.org/drawingml/2006/main">
            <a:pPr>
              <a:defRPr sz="1350">
                <a:solidFill>
                  <a:srgbClr val="142F4A"/>
                </a:solidFill>
                <a:latin typeface="Arial"/>
                <a:ea typeface="Arial"/>
                <a:cs typeface="Arial"/>
              </a:defRPr>
            </a:pPr>
          </a:p>
        </c:txPr>
        <c:crossAx val="48650112"/>
        <c:crossBetween val="between"/>
        <c:majorUnit val="5000"/>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pic>
        <p:nvPicPr>
          <p:cNvPr id="56" name="Picture 4"/>
          <p:cNvPicPr>
            <a:picLocks xmlns:a="http://schemas.openxmlformats.org/drawingml/2006/main" noChangeAspect="1"/>
          </p:cNvPicPr>
          <p:nvPr/>
        </p:nvPicPr>
        <p:blipFill rotWithShape="1">
          <a:blip xmlns:r="http://schemas.openxmlformats.org/officeDocument/2006/relationships" xmlns:a="http://schemas.openxmlformats.org/drawingml/2006/main" r:embed="Rc32f6b1d0c7e46d5"/>
          <a:srcRect xmlns:a="http://schemas.openxmlformats.org/drawingml/2006/main" l="0" t="0" r="59916" b="0"/>
          <a:stretch xmlns:a="http://schemas.openxmlformats.org/drawingml/2006/main"/>
        </p:blipFill>
        <p:spPr>
          <a:xfrm xmlns:a="http://schemas.openxmlformats.org/drawingml/2006/main">
            <a:off x="6854891" y="1715881"/>
            <a:ext cx="3203509" cy="3426237"/>
          </a:xfrm>
          <a:prstGeom xmlns:a="http://schemas.openxmlformats.org/drawingml/2006/main" prst="rect">
            <a:avLst/>
          </a:prstGeom>
        </p:spPr>
      </p:pic>
      <p:sp>
        <p:nvSpPr>
          <p:cNvPr id="4" name="Subtitle 3">
            <a:extLst xmlns:a="http://schemas.openxmlformats.org/drawingml/2006/main">
              <a:ext uri="{FF2B5EF4-FFF2-40B4-BE49-F238E27FC236}">
                <a16:creationId xmlns:a16="http://schemas.microsoft.com/office/drawing/2014/main" id="{D87F3ABB-EBEE-4BF4-B506-0BFB1EB19F34}"/>
              </a:ext>
            </a:extLst>
          </p:cNvPr>
          <p:cNvSpPr>
            <a:spLocks xmlns:a="http://schemas.openxmlformats.org/drawingml/2006/main" noGrp="1"/>
          </p:cNvSpPr>
          <p:nvPr>
            <p:ph type="subTitle" idx="1"/>
          </p:nvPr>
        </p:nvSpPr>
        <p:spPr>
          <a:xfrm xmlns:a="http://schemas.openxmlformats.org/drawingml/2006/main">
            <a:off x="1245686" y="648614"/>
            <a:ext cx="8534400" cy="1752600"/>
          </a:xfrm>
        </p:spPr>
        <p:txBody>
          <a:bodyPr xmlns:a="http://schemas.openxmlformats.org/drawingml/2006/main"/>
          <a:lstStyle xmlns:a="http://schemas.openxmlformats.org/drawingml/2006/main"/>
          <a:p xmlns:a="http://schemas.openxmlformats.org/drawingml/2006/main">
            <a:pPr algn="ctr">
              <a:defRPr sz="3525" b="1">
                <a:solidFill>
                  <a:srgbClr val="224A7B"/>
                </a:solidFill>
                <a:latin typeface="Times New Roman"/>
                <a:ea typeface="Times New Roman"/>
                <a:cs typeface="Times New Roman"/>
              </a:defRPr>
            </a:pPr>
            <a:r>
              <a:rPr sz="3525" b="1">
                <a:solidFill>
                  <a:srgbClr val="224A7B"/>
                </a:solidFill>
                <a:latin typeface="Times New Roman"/>
                <a:ea typeface="Times New Roman"/>
                <a:cs typeface="Times New Roman"/>
              </a:rPr>
              <a:t>Q-PRAMAAN</a:t>
            </a:r>
            <a:endParaRPr b="1">
              <a:solidFill>
                <a:schemeClr val="tx1"/>
              </a:solidFill>
              <a:latin typeface="Times New Roman"/>
              <a:ea typeface="Times New Roman"/>
              <a:cs typeface="Times New Roman"/>
            </a:endParaRPr>
          </a:p>
        </p:txBody>
      </p:sp>
      <p:sp>
        <p:nvSpPr>
          <p:cNvPr id="8" name="Title 7">
            <a:extLst xmlns:a="http://schemas.openxmlformats.org/drawingml/2006/main">
              <a:ext uri="{FF2B5EF4-FFF2-40B4-BE49-F238E27FC236}">
                <a16:creationId xmlns:a16="http://schemas.microsoft.com/office/drawing/2014/main" id="{D26BFF56-4089-4CC6-8DDA-121C8F9F22E7}"/>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pic>
        <p:nvPicPr>
          <p:cNvPr id="59" name="Picture 1"/>
          <p:cNvPicPr>
            <a:picLocks xmlns:a="http://schemas.openxmlformats.org/drawingml/2006/main" noChangeAspect="1"/>
          </p:cNvPicPr>
          <p:nvPr/>
        </p:nvPicPr>
        <p:blipFill>
          <a:blip xmlns:r="http://schemas.openxmlformats.org/officeDocument/2006/relationships" xmlns:a="http://schemas.openxmlformats.org/drawingml/2006/main" r:embed="Ra1adf7c7a28c4c08"/>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40" name="">
            <a:extLst xmlns:a="http://schemas.openxmlformats.org/drawingml/2006/main">
              <a:ext uri="{FF2B5EF4-FFF2-40B4-BE49-F238E27FC236}">
                <a16:creationId xmlns:a16="http://schemas.microsoft.com/office/drawing/2014/main" id="{73CAEFFB-45F9-4DFC-87E1-309B1DE1CED7}"/>
              </a:ext>
            </a:extLst>
          </p:cNvPr>
          <p:cNvSpPr>
            <a:spLocks xmlns:a="http://schemas.openxmlformats.org/drawingml/2006/main" noGrp="1"/>
          </p:cNvSpPr>
          <p:nvPr/>
        </p:nvSpPr>
        <p:spPr>
          <a:xfrm xmlns:a="http://schemas.openxmlformats.org/drawingml/2006/main">
            <a:off x="495300" y="1657350"/>
            <a:ext cx="54292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Same 2% error.</a:t>
            </a:r>
          </a:p>
          <a:p xmlns:a="http://schemas.openxmlformats.org/drawingml/2006/main">
            <a:pPr algn="l">
              <a:defRPr sz="2400" b="1">
                <a:solidFill>
                  <a:srgbClr val="224A7B"/>
                </a:solidFill>
                <a:latin typeface="Arial"/>
                <a:ea typeface="Arial"/>
                <a:cs typeface="Arial"/>
              </a:defRPr>
            </a:pPr>
            <a:r>
              <a:rPr sz="2400" b="1">
                <a:solidFill>
                  <a:srgbClr val="224A7B"/>
                </a:solidFill>
                <a:latin typeface="Arial"/>
                <a:ea typeface="Arial"/>
                <a:cs typeface="Arial"/>
              </a:rPr>
              <a:t>Different security outcome.</a:t>
            </a:r>
          </a:p>
        </p:txBody>
      </p:sp>
      <p:sp>
        <p:nvSpPr>
          <p:cNvPr id="41" name="">
            <a:extLst xmlns:a="http://schemas.openxmlformats.org/drawingml/2006/main">
              <a:ext uri="{FF2B5EF4-FFF2-40B4-BE49-F238E27FC236}">
                <a16:creationId xmlns:a16="http://schemas.microsoft.com/office/drawing/2014/main" id="{CFA0D896-9DB0-432E-8BE5-6D277AF308D0}"/>
              </a:ext>
            </a:extLst>
          </p:cNvPr>
          <p:cNvSpPr>
            <a:spLocks xmlns:a="http://schemas.openxmlformats.org/drawingml/2006/main" noGrp="1"/>
          </p:cNvSpPr>
          <p:nvPr/>
        </p:nvSpPr>
        <p:spPr>
          <a:xfrm xmlns:a="http://schemas.openxmlformats.org/drawingml/2006/main">
            <a:off x="504825" y="2428875"/>
            <a:ext cx="5143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477"/>
                </a:solidFill>
                <a:latin typeface="Arial"/>
                <a:ea typeface="Arial"/>
                <a:cs typeface="Arial"/>
              </a:defRPr>
            </a:pPr>
            <a:r>
              <a:rPr sz="1425" b="0">
                <a:solidFill>
                  <a:srgbClr val="526477"/>
                </a:solidFill>
                <a:latin typeface="Arial"/>
                <a:ea typeface="Arial"/>
                <a:cs typeface="Arial"/>
              </a:rPr>
              <a:t>Digital signatures prove approvals. Quantum computing threatens today’s RSA/ECC.</a:t>
            </a:r>
          </a:p>
        </p:txBody>
      </p:sp>
      <p:sp>
        <p:nvSpPr>
          <p:cNvPr id="42" name="">
            <a:extLst xmlns:a="http://schemas.openxmlformats.org/drawingml/2006/main">
              <a:ext uri="{FF2B5EF4-FFF2-40B4-BE49-F238E27FC236}">
                <a16:creationId xmlns:a16="http://schemas.microsoft.com/office/drawing/2014/main" id="{41E300F3-DC06-48E1-8DB0-E3DA3BFD1480}"/>
              </a:ext>
            </a:extLst>
          </p:cNvPr>
          <p:cNvSpPr>
            <a:spLocks xmlns:a="http://schemas.openxmlformats.org/drawingml/2006/main" noGrp="1"/>
          </p:cNvSpPr>
          <p:nvPr/>
        </p:nvSpPr>
        <p:spPr>
          <a:xfrm xmlns:a="http://schemas.openxmlformats.org/drawingml/2006/main">
            <a:off x="504825" y="2952750"/>
            <a:ext cx="5124450" cy="28575"/>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B3B6B4A-27D4-4B7F-805D-EBD4DA0C5823}"/>
              </a:ext>
            </a:extLst>
          </p:cNvPr>
          <p:cNvSpPr>
            <a:spLocks xmlns:a="http://schemas.openxmlformats.org/drawingml/2006/main" noGrp="1"/>
          </p:cNvSpPr>
          <p:nvPr/>
        </p:nvSpPr>
        <p:spPr>
          <a:xfrm xmlns:a="http://schemas.openxmlformats.org/drawingml/2006/main">
            <a:off x="504825" y="3133725"/>
            <a:ext cx="1285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PROBLEM</a:t>
            </a:r>
          </a:p>
        </p:txBody>
      </p:sp>
      <p:sp>
        <p:nvSpPr>
          <p:cNvPr id="44" name="">
            <a:extLst xmlns:a="http://schemas.openxmlformats.org/drawingml/2006/main">
              <a:ext uri="{FF2B5EF4-FFF2-40B4-BE49-F238E27FC236}">
                <a16:creationId xmlns:a16="http://schemas.microsoft.com/office/drawing/2014/main" id="{C168F578-CD19-4FD4-9DCE-7C2AB0A52CBF}"/>
              </a:ext>
            </a:extLst>
          </p:cNvPr>
          <p:cNvSpPr>
            <a:spLocks xmlns:a="http://schemas.openxmlformats.org/drawingml/2006/main" noGrp="1"/>
          </p:cNvSpPr>
          <p:nvPr/>
        </p:nvSpPr>
        <p:spPr>
          <a:xfrm xmlns:a="http://schemas.openxmlformats.org/drawingml/2006/main">
            <a:off x="1800225" y="3114675"/>
            <a:ext cx="40957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Quantum-Inspired Cyber Threat Detection for Digital Signature Security</a:t>
            </a:r>
          </a:p>
        </p:txBody>
      </p:sp>
      <p:sp>
        <p:nvSpPr>
          <p:cNvPr id="45" name="">
            <a:extLst xmlns:a="http://schemas.openxmlformats.org/drawingml/2006/main">
              <a:ext uri="{FF2B5EF4-FFF2-40B4-BE49-F238E27FC236}">
                <a16:creationId xmlns:a16="http://schemas.microsoft.com/office/drawing/2014/main" id="{EDEC9F6F-3262-4B72-B0DA-38C68E9F4A39}"/>
              </a:ext>
            </a:extLst>
          </p:cNvPr>
          <p:cNvSpPr>
            <a:spLocks xmlns:a="http://schemas.openxmlformats.org/drawingml/2006/main" noGrp="1"/>
          </p:cNvSpPr>
          <p:nvPr/>
        </p:nvSpPr>
        <p:spPr>
          <a:xfrm xmlns:a="http://schemas.openxmlformats.org/drawingml/2006/main">
            <a:off x="504825" y="3952875"/>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PS ID</a:t>
            </a:r>
          </a:p>
        </p:txBody>
      </p:sp>
      <p:sp>
        <p:nvSpPr>
          <p:cNvPr id="46" name="">
            <a:extLst xmlns:a="http://schemas.openxmlformats.org/drawingml/2006/main">
              <a:ext uri="{FF2B5EF4-FFF2-40B4-BE49-F238E27FC236}">
                <a16:creationId xmlns:a16="http://schemas.microsoft.com/office/drawing/2014/main" id="{34B59306-347E-4D36-AE7E-7E5848E15EA1}"/>
              </a:ext>
            </a:extLst>
          </p:cNvPr>
          <p:cNvSpPr>
            <a:spLocks xmlns:a="http://schemas.openxmlformats.org/drawingml/2006/main" noGrp="1"/>
          </p:cNvSpPr>
          <p:nvPr/>
        </p:nvSpPr>
        <p:spPr>
          <a:xfrm xmlns:a="http://schemas.openxmlformats.org/drawingml/2006/main">
            <a:off x="1800225" y="3952875"/>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SIH26141</a:t>
            </a:r>
          </a:p>
        </p:txBody>
      </p:sp>
      <p:sp>
        <p:nvSpPr>
          <p:cNvPr id="47" name="">
            <a:extLst xmlns:a="http://schemas.openxmlformats.org/drawingml/2006/main">
              <a:ext uri="{FF2B5EF4-FFF2-40B4-BE49-F238E27FC236}">
                <a16:creationId xmlns:a16="http://schemas.microsoft.com/office/drawing/2014/main" id="{0A45982A-9316-45E1-886D-4843B6B1B330}"/>
              </a:ext>
            </a:extLst>
          </p:cNvPr>
          <p:cNvSpPr>
            <a:spLocks xmlns:a="http://schemas.openxmlformats.org/drawingml/2006/main" noGrp="1"/>
          </p:cNvSpPr>
          <p:nvPr/>
        </p:nvSpPr>
        <p:spPr>
          <a:xfrm xmlns:a="http://schemas.openxmlformats.org/drawingml/2006/main">
            <a:off x="504825" y="4362450"/>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THEME</a:t>
            </a:r>
          </a:p>
        </p:txBody>
      </p:sp>
      <p:sp>
        <p:nvSpPr>
          <p:cNvPr id="48" name="">
            <a:extLst xmlns:a="http://schemas.openxmlformats.org/drawingml/2006/main">
              <a:ext uri="{FF2B5EF4-FFF2-40B4-BE49-F238E27FC236}">
                <a16:creationId xmlns:a16="http://schemas.microsoft.com/office/drawing/2014/main" id="{87E7CBDC-9CFA-4AE7-BEA0-440719BB2639}"/>
              </a:ext>
            </a:extLst>
          </p:cNvPr>
          <p:cNvSpPr>
            <a:spLocks xmlns:a="http://schemas.openxmlformats.org/drawingml/2006/main" noGrp="1"/>
          </p:cNvSpPr>
          <p:nvPr/>
        </p:nvSpPr>
        <p:spPr>
          <a:xfrm xmlns:a="http://schemas.openxmlformats.org/drawingml/2006/main">
            <a:off x="1800225" y="436245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Blockchain &amp; Cybersecurity</a:t>
            </a:r>
          </a:p>
        </p:txBody>
      </p:sp>
      <p:sp>
        <p:nvSpPr>
          <p:cNvPr id="49" name="">
            <a:extLst xmlns:a="http://schemas.openxmlformats.org/drawingml/2006/main">
              <a:ext uri="{FF2B5EF4-FFF2-40B4-BE49-F238E27FC236}">
                <a16:creationId xmlns:a16="http://schemas.microsoft.com/office/drawing/2014/main" id="{E7914808-EF37-4EEA-B255-CDF182A94D19}"/>
              </a:ext>
            </a:extLst>
          </p:cNvPr>
          <p:cNvSpPr>
            <a:spLocks xmlns:a="http://schemas.openxmlformats.org/drawingml/2006/main" noGrp="1"/>
          </p:cNvSpPr>
          <p:nvPr/>
        </p:nvSpPr>
        <p:spPr>
          <a:xfrm xmlns:a="http://schemas.openxmlformats.org/drawingml/2006/main">
            <a:off x="504825" y="4772025"/>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CATEGORY</a:t>
            </a:r>
          </a:p>
        </p:txBody>
      </p:sp>
      <p:sp>
        <p:nvSpPr>
          <p:cNvPr id="50" name="">
            <a:extLst xmlns:a="http://schemas.openxmlformats.org/drawingml/2006/main">
              <a:ext uri="{FF2B5EF4-FFF2-40B4-BE49-F238E27FC236}">
                <a16:creationId xmlns:a16="http://schemas.microsoft.com/office/drawing/2014/main" id="{592997DE-2400-410C-9FD5-106B9E9E54A9}"/>
              </a:ext>
            </a:extLst>
          </p:cNvPr>
          <p:cNvSpPr>
            <a:spLocks xmlns:a="http://schemas.openxmlformats.org/drawingml/2006/main" noGrp="1"/>
          </p:cNvSpPr>
          <p:nvPr/>
        </p:nvSpPr>
        <p:spPr>
          <a:xfrm xmlns:a="http://schemas.openxmlformats.org/drawingml/2006/main">
            <a:off x="1800225" y="4772025"/>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Software</a:t>
            </a:r>
          </a:p>
        </p:txBody>
      </p:sp>
      <p:sp>
        <p:nvSpPr>
          <p:cNvPr id="51" name="">
            <a:extLst xmlns:a="http://schemas.openxmlformats.org/drawingml/2006/main">
              <a:ext uri="{FF2B5EF4-FFF2-40B4-BE49-F238E27FC236}">
                <a16:creationId xmlns:a16="http://schemas.microsoft.com/office/drawing/2014/main" id="{0D3AC49B-1C22-4403-8591-5A12DD4371E6}"/>
              </a:ext>
            </a:extLst>
          </p:cNvPr>
          <p:cNvSpPr>
            <a:spLocks xmlns:a="http://schemas.openxmlformats.org/drawingml/2006/main" noGrp="1"/>
          </p:cNvSpPr>
          <p:nvPr/>
        </p:nvSpPr>
        <p:spPr>
          <a:xfrm xmlns:a="http://schemas.openxmlformats.org/drawingml/2006/main">
            <a:off x="504825" y="5181600"/>
            <a:ext cx="12858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TEAM</a:t>
            </a:r>
          </a:p>
        </p:txBody>
      </p:sp>
      <p:sp>
        <p:nvSpPr>
          <p:cNvPr id="52" name="">
            <a:extLst xmlns:a="http://schemas.openxmlformats.org/drawingml/2006/main">
              <a:ext uri="{FF2B5EF4-FFF2-40B4-BE49-F238E27FC236}">
                <a16:creationId xmlns:a16="http://schemas.microsoft.com/office/drawing/2014/main" id="{DE7E5970-9C95-462E-AE87-25788EC14D65}"/>
              </a:ext>
            </a:extLst>
          </p:cNvPr>
          <p:cNvSpPr>
            <a:spLocks xmlns:a="http://schemas.openxmlformats.org/drawingml/2006/main" noGrp="1"/>
          </p:cNvSpPr>
          <p:nvPr/>
        </p:nvSpPr>
        <p:spPr>
          <a:xfrm xmlns:a="http://schemas.openxmlformats.org/drawingml/2006/main">
            <a:off x="1800225" y="5181600"/>
            <a:ext cx="4095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Cache Hit  |  ID 125961</a:t>
            </a:r>
          </a:p>
        </p:txBody>
      </p:sp>
      <p:sp>
        <p:nvSpPr>
          <p:cNvPr id="53" name="">
            <a:extLst xmlns:a="http://schemas.openxmlformats.org/drawingml/2006/main">
              <a:ext uri="{FF2B5EF4-FFF2-40B4-BE49-F238E27FC236}">
                <a16:creationId xmlns:a16="http://schemas.microsoft.com/office/drawing/2014/main" id="{82ED9232-4181-4FC0-B06F-0BEC5345250D}"/>
              </a:ext>
            </a:extLst>
          </p:cNvPr>
          <p:cNvSpPr>
            <a:spLocks xmlns:a="http://schemas.openxmlformats.org/drawingml/2006/main" noGrp="1"/>
          </p:cNvSpPr>
          <p:nvPr/>
        </p:nvSpPr>
        <p:spPr>
          <a:xfrm xmlns:a="http://schemas.openxmlformats.org/drawingml/2006/main">
            <a:off x="504825" y="5905500"/>
            <a:ext cx="514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526477"/>
                </a:solidFill>
                <a:latin typeface="Arial"/>
                <a:ea typeface="Arial"/>
                <a:cs typeface="Arial"/>
              </a:defRPr>
            </a:pPr>
            <a:r>
              <a:rPr sz="1200" b="0">
                <a:solidFill>
                  <a:srgbClr val="526477"/>
                </a:solidFill>
                <a:latin typeface="Arial"/>
                <a:ea typeface="Arial"/>
                <a:cs typeface="Arial"/>
              </a:rPr>
              <a:t>Software simulation and security-assurance prototype</a:t>
            </a:r>
          </a:p>
        </p:txBody>
      </p:sp>
    </p:spTree>
    <p:extLst>
      <p:ext uri="{BB962C8B-B14F-4D97-AF65-F5344CB8AC3E}">
        <p14:creationId xmlns:p14="http://schemas.microsoft.com/office/powerpoint/2010/main" val="94559320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9195A2FA-7BD2-4793-A16F-3B3B3AE0EB53}"/>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7B79D408-C979-4664-B2FE-08E79BF4AA83}"/>
              </a:ext>
            </a:extLst>
          </p:cNvPr>
          <p:cNvSpPr>
            <a:spLocks xmlns:a="http://schemas.openxmlformats.org/drawingml/2006/main" noGrp="1"/>
          </p:cNvSpPr>
          <p:nvPr>
            <p:ph type="title" idx="0"/>
          </p:nvPr>
        </p:nvSpPr>
        <p:spPr>
          <a:xfrm xmlns:a="http://schemas.openxmlformats.org/drawingml/2006/main">
            <a:off x="182998" y="0"/>
            <a:ext cx="10972800" cy="1143000"/>
          </a:xfrm>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Q-PRAMAAN</a:t>
            </a:r>
          </a:p>
        </p:txBody>
      </p:sp>
      <p:sp>
        <p:nvSpPr>
          <p:cNvPr id="6" name="Slide Number Placeholder 5">
            <a:extLst xmlns:a="http://schemas.openxmlformats.org/drawingml/2006/main">
              <a:ext uri="{FF2B5EF4-FFF2-40B4-BE49-F238E27FC236}">
                <a16:creationId xmlns:a16="http://schemas.microsoft.com/office/drawing/2014/main" id="{0C80D2D7-157A-47C4-B5C1-80F49EB0021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6B023435-229F-4A2F-BDD6-39507EA10FDD}"/>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5379" name="Picture 10"/>
          <p:cNvPicPr>
            <a:picLocks xmlns:a="http://schemas.openxmlformats.org/drawingml/2006/main" noChangeAspect="1"/>
          </p:cNvPicPr>
          <p:nvPr/>
        </p:nvPicPr>
        <p:blipFill>
          <a:blip xmlns:r="http://schemas.openxmlformats.org/officeDocument/2006/relationships" xmlns:a="http://schemas.openxmlformats.org/drawingml/2006/main" r:embed="Rbd2becae32ba4eb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5364" name="">
            <a:extLst xmlns:a="http://schemas.openxmlformats.org/drawingml/2006/main">
              <a:ext uri="{FF2B5EF4-FFF2-40B4-BE49-F238E27FC236}">
                <a16:creationId xmlns:a16="http://schemas.microsoft.com/office/drawing/2014/main" id="{4CCA9886-C68C-4037-A6AE-FBE911CB8303}"/>
              </a:ext>
            </a:extLst>
          </p:cNvPr>
          <p:cNvSpPr>
            <a:spLocks xmlns:a="http://schemas.openxmlformats.org/drawingml/2006/main" noGrp="1"/>
          </p:cNvSpPr>
          <p:nvPr/>
        </p:nvSpPr>
        <p:spPr>
          <a:xfrm xmlns:a="http://schemas.openxmlformats.org/drawingml/2006/main">
            <a:off x="504825" y="1381125"/>
            <a:ext cx="110013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1">
                <a:solidFill>
                  <a:srgbClr val="224A7B"/>
                </a:solidFill>
                <a:latin typeface="Arial"/>
                <a:ea typeface="Arial"/>
                <a:cs typeface="Arial"/>
              </a:defRPr>
            </a:pPr>
            <a:r>
              <a:rPr sz="2250" b="1">
                <a:solidFill>
                  <a:srgbClr val="224A7B"/>
                </a:solidFill>
                <a:latin typeface="Arial"/>
                <a:ea typeface="Arial"/>
                <a:cs typeface="Arial"/>
              </a:rPr>
              <a:t>The average hides which Bell outcome was disturbed</a:t>
            </a:r>
          </a:p>
        </p:txBody>
      </p:sp>
      <p:sp>
        <p:nvSpPr>
          <p:cNvPr id="15365" name="">
            <a:extLst xmlns:a="http://schemas.openxmlformats.org/drawingml/2006/main">
              <a:ext uri="{FF2B5EF4-FFF2-40B4-BE49-F238E27FC236}">
                <a16:creationId xmlns:a16="http://schemas.microsoft.com/office/drawing/2014/main" id="{7758AC87-B34A-4BC6-824A-420F4B1A1A77}"/>
              </a:ext>
            </a:extLst>
          </p:cNvPr>
          <p:cNvSpPr>
            <a:spLocks xmlns:a="http://schemas.openxmlformats.org/drawingml/2006/main" noGrp="1"/>
          </p:cNvSpPr>
          <p:nvPr/>
        </p:nvSpPr>
        <p:spPr>
          <a:xfrm xmlns:a="http://schemas.openxmlformats.org/drawingml/2006/main">
            <a:off x="542925" y="1971675"/>
            <a:ext cx="7286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Expected error by Bell outcome (two teleportation bits)</a:t>
            </a:r>
          </a:p>
        </p:txBody>
      </p:sp>
      <p:graphicFrame>
        <p:nvGraphicFramePr>
          <p:cNvPr id="15382" name="Chart"/>
          <p:cNvGraphicFramePr/>
          <p:nvPr/>
        </p:nvGraphicFramePr>
        <p:xfrm>
          <a:off xmlns:a="http://schemas.openxmlformats.org/drawingml/2006/main" x="523875" y="2276475"/>
          <a:ext xmlns:a="http://schemas.openxmlformats.org/drawingml/2006/main" cx="7477125" cy="2762250"/>
        </p:xfrm>
        <a:graphic xmlns:a="http://schemas.openxmlformats.org/drawingml/2006/main">
          <a:graphicData uri="http://schemas.openxmlformats.org/drawingml/2006/chart">
            <c:chart xmlns:r="http://schemas.openxmlformats.org/officeDocument/2006/relationships" xmlns:c="http://schemas.openxmlformats.org/drawingml/2006/chart" r:id="Rb2abe86c88a34ab4"/>
          </a:graphicData>
        </a:graphic>
      </p:graphicFrame>
      <p:sp>
        <p:nvSpPr>
          <p:cNvPr id="15367" name="">
            <a:extLst xmlns:a="http://schemas.openxmlformats.org/drawingml/2006/main">
              <a:ext uri="{FF2B5EF4-FFF2-40B4-BE49-F238E27FC236}">
                <a16:creationId xmlns:a16="http://schemas.microsoft.com/office/drawing/2014/main" id="{83FDCBDE-0A8E-4E1F-8240-B09E7CBA4164}"/>
              </a:ext>
            </a:extLst>
          </p:cNvPr>
          <p:cNvSpPr>
            <a:spLocks xmlns:a="http://schemas.openxmlformats.org/drawingml/2006/main" noGrp="1"/>
          </p:cNvSpPr>
          <p:nvPr/>
        </p:nvSpPr>
        <p:spPr>
          <a:xfrm xmlns:a="http://schemas.openxmlformats.org/drawingml/2006/main">
            <a:off x="8229600" y="2305050"/>
            <a:ext cx="28575" cy="2571750"/>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5368" name="">
            <a:extLst xmlns:a="http://schemas.openxmlformats.org/drawingml/2006/main">
              <a:ext uri="{FF2B5EF4-FFF2-40B4-BE49-F238E27FC236}">
                <a16:creationId xmlns:a16="http://schemas.microsoft.com/office/drawing/2014/main" id="{E6E6F122-0194-4EDE-9AEE-30135215ECD9}"/>
              </a:ext>
            </a:extLst>
          </p:cNvPr>
          <p:cNvSpPr>
            <a:spLocks xmlns:a="http://schemas.openxmlformats.org/drawingml/2006/main" noGrp="1"/>
          </p:cNvSpPr>
          <p:nvPr/>
        </p:nvSpPr>
        <p:spPr>
          <a:xfrm xmlns:a="http://schemas.openxmlformats.org/drawingml/2006/main">
            <a:off x="8486775" y="2381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BOTH AVERAGE</a:t>
            </a:r>
          </a:p>
        </p:txBody>
      </p:sp>
      <p:sp>
        <p:nvSpPr>
          <p:cNvPr id="15369" name="">
            <a:extLst xmlns:a="http://schemas.openxmlformats.org/drawingml/2006/main">
              <a:ext uri="{FF2B5EF4-FFF2-40B4-BE49-F238E27FC236}">
                <a16:creationId xmlns:a16="http://schemas.microsoft.com/office/drawing/2014/main" id="{AF4B272B-289D-4B20-9B6B-B437FE81FE6B}"/>
              </a:ext>
            </a:extLst>
          </p:cNvPr>
          <p:cNvSpPr>
            <a:spLocks xmlns:a="http://schemas.openxmlformats.org/drawingml/2006/main" noGrp="1"/>
          </p:cNvSpPr>
          <p:nvPr/>
        </p:nvSpPr>
        <p:spPr>
          <a:xfrm xmlns:a="http://schemas.openxmlformats.org/drawingml/2006/main">
            <a:off x="8467725" y="2714625"/>
            <a:ext cx="2857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5100" b="1">
                <a:solidFill>
                  <a:srgbClr val="224A7B"/>
                </a:solidFill>
                <a:latin typeface="Arial"/>
                <a:ea typeface="Arial"/>
                <a:cs typeface="Arial"/>
              </a:defRPr>
            </a:pPr>
            <a:r>
              <a:rPr sz="5100" b="1">
                <a:solidFill>
                  <a:srgbClr val="224A7B"/>
                </a:solidFill>
                <a:latin typeface="Arial"/>
                <a:ea typeface="Arial"/>
                <a:cs typeface="Arial"/>
              </a:rPr>
              <a:t>2%</a:t>
            </a:r>
          </a:p>
        </p:txBody>
      </p:sp>
      <p:sp>
        <p:nvSpPr>
          <p:cNvPr id="15370" name="">
            <a:extLst xmlns:a="http://schemas.openxmlformats.org/drawingml/2006/main">
              <a:ext uri="{FF2B5EF4-FFF2-40B4-BE49-F238E27FC236}">
                <a16:creationId xmlns:a16="http://schemas.microsoft.com/office/drawing/2014/main" id="{FB3C637A-B1AD-4549-BB4E-FA5651A67ED3}"/>
              </a:ext>
            </a:extLst>
          </p:cNvPr>
          <p:cNvSpPr>
            <a:spLocks xmlns:a="http://schemas.openxmlformats.org/drawingml/2006/main" noGrp="1"/>
          </p:cNvSpPr>
          <p:nvPr/>
        </p:nvSpPr>
        <p:spPr>
          <a:xfrm xmlns:a="http://schemas.openxmlformats.org/drawingml/2006/main">
            <a:off x="8477250" y="3667125"/>
            <a:ext cx="2809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Ordinary: 2% in all four outcomes</a:t>
            </a:r>
          </a:p>
        </p:txBody>
      </p:sp>
      <p:sp>
        <p:nvSpPr>
          <p:cNvPr id="15371" name="">
            <a:extLst xmlns:a="http://schemas.openxmlformats.org/drawingml/2006/main">
              <a:ext uri="{FF2B5EF4-FFF2-40B4-BE49-F238E27FC236}">
                <a16:creationId xmlns:a16="http://schemas.microsoft.com/office/drawing/2014/main" id="{8E99939E-D123-4A87-80BB-20E87E73CEA9}"/>
              </a:ext>
            </a:extLst>
          </p:cNvPr>
          <p:cNvSpPr>
            <a:spLocks xmlns:a="http://schemas.openxmlformats.org/drawingml/2006/main" noGrp="1"/>
          </p:cNvSpPr>
          <p:nvPr/>
        </p:nvSpPr>
        <p:spPr>
          <a:xfrm xmlns:a="http://schemas.openxmlformats.org/drawingml/2006/main">
            <a:off x="8477250" y="4267200"/>
            <a:ext cx="28098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Targeted: 8% in 00, 0% elsewhere</a:t>
            </a:r>
          </a:p>
        </p:txBody>
      </p:sp>
      <p:sp>
        <p:nvSpPr>
          <p:cNvPr id="15372" name="">
            <a:extLst xmlns:a="http://schemas.openxmlformats.org/drawingml/2006/main">
              <a:ext uri="{FF2B5EF4-FFF2-40B4-BE49-F238E27FC236}">
                <a16:creationId xmlns:a16="http://schemas.microsoft.com/office/drawing/2014/main" id="{ECB4D76E-20A9-4E6B-A4BD-31F094FB9D11}"/>
              </a:ext>
            </a:extLst>
          </p:cNvPr>
          <p:cNvSpPr>
            <a:spLocks xmlns:a="http://schemas.openxmlformats.org/drawingml/2006/main" noGrp="1"/>
          </p:cNvSpPr>
          <p:nvPr/>
        </p:nvSpPr>
        <p:spPr>
          <a:xfrm xmlns:a="http://schemas.openxmlformats.org/drawingml/2006/main">
            <a:off x="533400" y="5257800"/>
            <a:ext cx="109537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5373" name="">
            <a:extLst xmlns:a="http://schemas.openxmlformats.org/drawingml/2006/main">
              <a:ext uri="{FF2B5EF4-FFF2-40B4-BE49-F238E27FC236}">
                <a16:creationId xmlns:a16="http://schemas.microsoft.com/office/drawing/2014/main" id="{21BB0DAD-2957-42F1-A90A-5638AFE5A9A3}"/>
              </a:ext>
            </a:extLst>
          </p:cNvPr>
          <p:cNvSpPr>
            <a:spLocks xmlns:a="http://schemas.openxmlformats.org/drawingml/2006/main" noGrp="1"/>
          </p:cNvSpPr>
          <p:nvPr/>
        </p:nvSpPr>
        <p:spPr>
          <a:xfrm xmlns:a="http://schemas.openxmlformats.org/drawingml/2006/main">
            <a:off x="542925" y="5343525"/>
            <a:ext cx="10715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Q-PRAMAAN verifies Alice’s declaration and checks each outcome separately. A pooled error check sees the same 2% average in both cases.</a:t>
            </a:r>
          </a:p>
        </p:txBody>
      </p:sp>
    </p:spTree>
    <p:extLst>
      <p:ext uri="{BB962C8B-B14F-4D97-AF65-F5344CB8AC3E}">
        <p14:creationId xmlns:p14="http://schemas.microsoft.com/office/powerpoint/2010/main" val="86990343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1E14459D-94BD-404C-8B11-571CE36BB1A0}"/>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7BB2B659-4CC4-4C04-BE87-BE3EC83FF4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3AAD6A62-9391-4E51-93BC-99A20C129262}"/>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41" name="Picture 11"/>
          <p:cNvPicPr>
            <a:picLocks xmlns:a="http://schemas.openxmlformats.org/drawingml/2006/main" noChangeAspect="1"/>
          </p:cNvPicPr>
          <p:nvPr/>
        </p:nvPicPr>
        <p:blipFill>
          <a:blip xmlns:r="http://schemas.openxmlformats.org/officeDocument/2006/relationships" xmlns:a="http://schemas.openxmlformats.org/drawingml/2006/main" r:embed="R898526085a5341ed"/>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7D4D44F6-4E72-48C3-BA56-0EF13B17D6B7}"/>
              </a:ext>
            </a:extLst>
          </p:cNvPr>
          <p:cNvSpPr>
            <a:spLocks xmlns:a="http://schemas.openxmlformats.org/drawingml/2006/main" noGrp="1"/>
          </p:cNvSpPr>
          <p:nvPr/>
        </p:nvSpPr>
        <p:spPr>
          <a:xfrm xmlns:a="http://schemas.openxmlformats.org/drawingml/2006/main">
            <a:off x="533400" y="14001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One signing event, two kinds of evidence</a:t>
            </a:r>
          </a:p>
        </p:txBody>
      </p:sp>
      <p:sp>
        <p:nvSpPr>
          <p:cNvPr id="17413" name="">
            <a:extLst xmlns:a="http://schemas.openxmlformats.org/drawingml/2006/main">
              <a:ext uri="{FF2B5EF4-FFF2-40B4-BE49-F238E27FC236}">
                <a16:creationId xmlns:a16="http://schemas.microsoft.com/office/drawing/2014/main" id="{5BEAB628-86DE-4822-A3AA-E829B8F5DCD2}"/>
              </a:ext>
            </a:extLst>
          </p:cNvPr>
          <p:cNvSpPr>
            <a:spLocks xmlns:a="http://schemas.openxmlformats.org/drawingml/2006/main" noGrp="1"/>
          </p:cNvSpPr>
          <p:nvPr/>
        </p:nvSpPr>
        <p:spPr>
          <a:xfrm xmlns:a="http://schemas.openxmlformats.org/drawingml/2006/main">
            <a:off x="542925" y="1981200"/>
            <a:ext cx="10715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0876BE"/>
                </a:solidFill>
                <a:latin typeface="Arial"/>
                <a:ea typeface="Arial"/>
                <a:cs typeface="Arial"/>
              </a:defRPr>
            </a:pPr>
            <a:r>
              <a:rPr sz="1350" b="1">
                <a:solidFill>
                  <a:srgbClr val="0876BE"/>
                </a:solidFill>
                <a:latin typeface="Arial"/>
                <a:ea typeface="Arial"/>
                <a:cs typeface="Arial"/>
              </a:rPr>
              <a:t>SIGNATURE PATH — checks who approved the decision</a:t>
            </a:r>
          </a:p>
        </p:txBody>
      </p:sp>
      <p:sp>
        <p:nvSpPr>
          <p:cNvPr id="17414" name="">
            <a:extLst xmlns:a="http://schemas.openxmlformats.org/drawingml/2006/main">
              <a:ext uri="{FF2B5EF4-FFF2-40B4-BE49-F238E27FC236}">
                <a16:creationId xmlns:a16="http://schemas.microsoft.com/office/drawing/2014/main" id="{8B5ABA05-24BE-449B-8A64-FCAFC5AE9C5E}"/>
              </a:ext>
            </a:extLst>
          </p:cNvPr>
          <p:cNvSpPr>
            <a:spLocks xmlns:a="http://schemas.openxmlformats.org/drawingml/2006/main" noGrp="1"/>
          </p:cNvSpPr>
          <p:nvPr/>
        </p:nvSpPr>
        <p:spPr>
          <a:xfrm xmlns:a="http://schemas.openxmlformats.org/drawingml/2006/main">
            <a:off x="552450" y="2390775"/>
            <a:ext cx="2428875" cy="38100"/>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7415" name="">
            <a:extLst xmlns:a="http://schemas.openxmlformats.org/drawingml/2006/main">
              <a:ext uri="{FF2B5EF4-FFF2-40B4-BE49-F238E27FC236}">
                <a16:creationId xmlns:a16="http://schemas.microsoft.com/office/drawing/2014/main" id="{A4A50EDE-3FB7-4B73-9B64-C0F13B0EC10C}"/>
              </a:ext>
            </a:extLst>
          </p:cNvPr>
          <p:cNvSpPr>
            <a:spLocks xmlns:a="http://schemas.openxmlformats.org/drawingml/2006/main" noGrp="1"/>
          </p:cNvSpPr>
          <p:nvPr/>
        </p:nvSpPr>
        <p:spPr>
          <a:xfrm xmlns:a="http://schemas.openxmlformats.org/drawingml/2006/main">
            <a:off x="552450"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1  Alice prepares</a:t>
            </a:r>
          </a:p>
        </p:txBody>
      </p:sp>
      <p:sp>
        <p:nvSpPr>
          <p:cNvPr id="17416" name="">
            <a:extLst xmlns:a="http://schemas.openxmlformats.org/drawingml/2006/main">
              <a:ext uri="{FF2B5EF4-FFF2-40B4-BE49-F238E27FC236}">
                <a16:creationId xmlns:a16="http://schemas.microsoft.com/office/drawing/2014/main" id="{9F9DD9B8-A8C5-4732-A966-5EEBCEC57A3E}"/>
              </a:ext>
            </a:extLst>
          </p:cNvPr>
          <p:cNvSpPr>
            <a:spLocks xmlns:a="http://schemas.openxmlformats.org/drawingml/2006/main" noGrp="1"/>
          </p:cNvSpPr>
          <p:nvPr/>
        </p:nvSpPr>
        <p:spPr>
          <a:xfrm xmlns:a="http://schemas.openxmlformats.org/drawingml/2006/main">
            <a:off x="552450"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Alice prepares quantum signature material for both approve and reject.</a:t>
            </a:r>
          </a:p>
        </p:txBody>
      </p:sp>
      <p:sp>
        <p:nvSpPr>
          <p:cNvPr id="17417" name="">
            <a:extLst xmlns:a="http://schemas.openxmlformats.org/drawingml/2006/main">
              <a:ext uri="{FF2B5EF4-FFF2-40B4-BE49-F238E27FC236}">
                <a16:creationId xmlns:a16="http://schemas.microsoft.com/office/drawing/2014/main" id="{40A692BF-E77E-4E12-97F3-6C9A2884BB71}"/>
              </a:ext>
            </a:extLst>
          </p:cNvPr>
          <p:cNvSpPr>
            <a:spLocks xmlns:a="http://schemas.openxmlformats.org/drawingml/2006/main" noGrp="1"/>
          </p:cNvSpPr>
          <p:nvPr/>
        </p:nvSpPr>
        <p:spPr>
          <a:xfrm xmlns:a="http://schemas.openxmlformats.org/drawingml/2006/main">
            <a:off x="3000375"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18" name="">
            <a:extLst xmlns:a="http://schemas.openxmlformats.org/drawingml/2006/main">
              <a:ext uri="{FF2B5EF4-FFF2-40B4-BE49-F238E27FC236}">
                <a16:creationId xmlns:a16="http://schemas.microsoft.com/office/drawing/2014/main" id="{9455574A-EBD1-4E0E-A6D1-423A45F15293}"/>
              </a:ext>
            </a:extLst>
          </p:cNvPr>
          <p:cNvSpPr>
            <a:spLocks xmlns:a="http://schemas.openxmlformats.org/drawingml/2006/main" noGrp="1"/>
          </p:cNvSpPr>
          <p:nvPr/>
        </p:nvSpPr>
        <p:spPr>
          <a:xfrm xmlns:a="http://schemas.openxmlformats.org/drawingml/2006/main">
            <a:off x="3343275"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9" name="">
            <a:extLst xmlns:a="http://schemas.openxmlformats.org/drawingml/2006/main">
              <a:ext uri="{FF2B5EF4-FFF2-40B4-BE49-F238E27FC236}">
                <a16:creationId xmlns:a16="http://schemas.microsoft.com/office/drawing/2014/main" id="{99C022CA-52A8-4B21-97D7-B43E44F5FB5D}"/>
              </a:ext>
            </a:extLst>
          </p:cNvPr>
          <p:cNvSpPr>
            <a:spLocks xmlns:a="http://schemas.openxmlformats.org/drawingml/2006/main" noGrp="1"/>
          </p:cNvSpPr>
          <p:nvPr/>
        </p:nvSpPr>
        <p:spPr>
          <a:xfrm xmlns:a="http://schemas.openxmlformats.org/drawingml/2006/main">
            <a:off x="3343275"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2  States travel</a:t>
            </a:r>
          </a:p>
        </p:txBody>
      </p:sp>
      <p:sp>
        <p:nvSpPr>
          <p:cNvPr id="17420" name="">
            <a:extLst xmlns:a="http://schemas.openxmlformats.org/drawingml/2006/main">
              <a:ext uri="{FF2B5EF4-FFF2-40B4-BE49-F238E27FC236}">
                <a16:creationId xmlns:a16="http://schemas.microsoft.com/office/drawing/2014/main" id="{E3CC7A8D-585C-4478-B12C-8A58B25605B6}"/>
              </a:ext>
            </a:extLst>
          </p:cNvPr>
          <p:cNvSpPr>
            <a:spLocks xmlns:a="http://schemas.openxmlformats.org/drawingml/2006/main" noGrp="1"/>
          </p:cNvSpPr>
          <p:nvPr/>
        </p:nvSpPr>
        <p:spPr>
          <a:xfrm xmlns:a="http://schemas.openxmlformats.org/drawingml/2006/main">
            <a:off x="3343275"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Bell pairs carry the state; a Pauli correction restores it for measurement.</a:t>
            </a:r>
          </a:p>
        </p:txBody>
      </p:sp>
      <p:sp>
        <p:nvSpPr>
          <p:cNvPr id="17421" name="">
            <a:extLst xmlns:a="http://schemas.openxmlformats.org/drawingml/2006/main">
              <a:ext uri="{FF2B5EF4-FFF2-40B4-BE49-F238E27FC236}">
                <a16:creationId xmlns:a16="http://schemas.microsoft.com/office/drawing/2014/main" id="{67AD61C3-24EB-4A77-9F6F-44D435EACA40}"/>
              </a:ext>
            </a:extLst>
          </p:cNvPr>
          <p:cNvSpPr>
            <a:spLocks xmlns:a="http://schemas.openxmlformats.org/drawingml/2006/main" noGrp="1"/>
          </p:cNvSpPr>
          <p:nvPr/>
        </p:nvSpPr>
        <p:spPr>
          <a:xfrm xmlns:a="http://schemas.openxmlformats.org/drawingml/2006/main">
            <a:off x="5791200"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22" name="">
            <a:extLst xmlns:a="http://schemas.openxmlformats.org/drawingml/2006/main">
              <a:ext uri="{FF2B5EF4-FFF2-40B4-BE49-F238E27FC236}">
                <a16:creationId xmlns:a16="http://schemas.microsoft.com/office/drawing/2014/main" id="{C782771C-F68C-4AA0-9484-59331C940330}"/>
              </a:ext>
            </a:extLst>
          </p:cNvPr>
          <p:cNvSpPr>
            <a:spLocks xmlns:a="http://schemas.openxmlformats.org/drawingml/2006/main" noGrp="1"/>
          </p:cNvSpPr>
          <p:nvPr/>
        </p:nvSpPr>
        <p:spPr>
          <a:xfrm xmlns:a="http://schemas.openxmlformats.org/drawingml/2006/main">
            <a:off x="6134100"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5A47D113-7187-46EC-B226-69EA44169D2D}"/>
              </a:ext>
            </a:extLst>
          </p:cNvPr>
          <p:cNvSpPr>
            <a:spLocks xmlns:a="http://schemas.openxmlformats.org/drawingml/2006/main" noGrp="1"/>
          </p:cNvSpPr>
          <p:nvPr/>
        </p:nvSpPr>
        <p:spPr>
          <a:xfrm xmlns:a="http://schemas.openxmlformats.org/drawingml/2006/main">
            <a:off x="6134100"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3  Bob verifies</a:t>
            </a:r>
          </a:p>
        </p:txBody>
      </p:sp>
      <p:sp>
        <p:nvSpPr>
          <p:cNvPr id="17424" name="">
            <a:extLst xmlns:a="http://schemas.openxmlformats.org/drawingml/2006/main">
              <a:ext uri="{FF2B5EF4-FFF2-40B4-BE49-F238E27FC236}">
                <a16:creationId xmlns:a16="http://schemas.microsoft.com/office/drawing/2014/main" id="{9A3CA46E-46CE-44BC-9E73-374B0A3A85CC}"/>
              </a:ext>
            </a:extLst>
          </p:cNvPr>
          <p:cNvSpPr>
            <a:spLocks xmlns:a="http://schemas.openxmlformats.org/drawingml/2006/main" noGrp="1"/>
          </p:cNvSpPr>
          <p:nvPr/>
        </p:nvSpPr>
        <p:spPr>
          <a:xfrm xmlns:a="http://schemas.openxmlformats.org/drawingml/2006/main">
            <a:off x="6134100"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Bob measures and checks Alice’s revealed declaration.</a:t>
            </a:r>
          </a:p>
        </p:txBody>
      </p:sp>
      <p:sp>
        <p:nvSpPr>
          <p:cNvPr id="17425" name="">
            <a:extLst xmlns:a="http://schemas.openxmlformats.org/drawingml/2006/main">
              <a:ext uri="{FF2B5EF4-FFF2-40B4-BE49-F238E27FC236}">
                <a16:creationId xmlns:a16="http://schemas.microsoft.com/office/drawing/2014/main" id="{4BBFF602-98C0-4E12-8444-827F97F1D4A7}"/>
              </a:ext>
            </a:extLst>
          </p:cNvPr>
          <p:cNvSpPr>
            <a:spLocks xmlns:a="http://schemas.openxmlformats.org/drawingml/2006/main" noGrp="1"/>
          </p:cNvSpPr>
          <p:nvPr/>
        </p:nvSpPr>
        <p:spPr>
          <a:xfrm xmlns:a="http://schemas.openxmlformats.org/drawingml/2006/main">
            <a:off x="8582025" y="2809875"/>
            <a:ext cx="323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defRPr sz="2175" b="1">
                <a:solidFill>
                  <a:srgbClr val="0876BE"/>
                </a:solidFill>
                <a:latin typeface="Arial"/>
                <a:ea typeface="Arial"/>
                <a:cs typeface="Arial"/>
              </a:defRPr>
            </a:pPr>
            <a:r>
              <a:rPr sz="2175" b="1">
                <a:solidFill>
                  <a:srgbClr val="0876BE"/>
                </a:solidFill>
                <a:latin typeface="Arial"/>
                <a:ea typeface="Arial"/>
                <a:cs typeface="Arial"/>
              </a:rPr>
              <a:t>→</a:t>
            </a:r>
          </a:p>
        </p:txBody>
      </p:sp>
      <p:sp>
        <p:nvSpPr>
          <p:cNvPr id="17426" name="">
            <a:extLst xmlns:a="http://schemas.openxmlformats.org/drawingml/2006/main">
              <a:ext uri="{FF2B5EF4-FFF2-40B4-BE49-F238E27FC236}">
                <a16:creationId xmlns:a16="http://schemas.microsoft.com/office/drawing/2014/main" id="{0EAB04D6-9639-4BB1-8A33-986846FB3677}"/>
              </a:ext>
            </a:extLst>
          </p:cNvPr>
          <p:cNvSpPr>
            <a:spLocks xmlns:a="http://schemas.openxmlformats.org/drawingml/2006/main" noGrp="1"/>
          </p:cNvSpPr>
          <p:nvPr/>
        </p:nvSpPr>
        <p:spPr>
          <a:xfrm xmlns:a="http://schemas.openxmlformats.org/drawingml/2006/main">
            <a:off x="8924925" y="2390775"/>
            <a:ext cx="2428875" cy="3810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7" name="">
            <a:extLst xmlns:a="http://schemas.openxmlformats.org/drawingml/2006/main">
              <a:ext uri="{FF2B5EF4-FFF2-40B4-BE49-F238E27FC236}">
                <a16:creationId xmlns:a16="http://schemas.microsoft.com/office/drawing/2014/main" id="{A42CC033-A12A-455E-8D3A-3B83D47D26C4}"/>
              </a:ext>
            </a:extLst>
          </p:cNvPr>
          <p:cNvSpPr>
            <a:spLocks xmlns:a="http://schemas.openxmlformats.org/drawingml/2006/main" noGrp="1"/>
          </p:cNvSpPr>
          <p:nvPr/>
        </p:nvSpPr>
        <p:spPr>
          <a:xfrm xmlns:a="http://schemas.openxmlformats.org/drawingml/2006/main">
            <a:off x="8924925" y="2533650"/>
            <a:ext cx="23907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650" b="1">
                <a:solidFill>
                  <a:srgbClr val="142F4A"/>
                </a:solidFill>
                <a:latin typeface="Arial"/>
                <a:ea typeface="Arial"/>
                <a:cs typeface="Arial"/>
              </a:defRPr>
            </a:pPr>
            <a:r>
              <a:rPr sz="1650" b="1">
                <a:solidFill>
                  <a:srgbClr val="142F4A"/>
                </a:solidFill>
                <a:latin typeface="Arial"/>
                <a:ea typeface="Arial"/>
                <a:cs typeface="Arial"/>
              </a:rPr>
              <a:t>4  Charlie checks</a:t>
            </a:r>
          </a:p>
        </p:txBody>
      </p:sp>
      <p:sp>
        <p:nvSpPr>
          <p:cNvPr id="17428" name="">
            <a:extLst xmlns:a="http://schemas.openxmlformats.org/drawingml/2006/main">
              <a:ext uri="{FF2B5EF4-FFF2-40B4-BE49-F238E27FC236}">
                <a16:creationId xmlns:a16="http://schemas.microsoft.com/office/drawing/2014/main" id="{B34DDCC8-DC08-4302-AE6C-0EEA019BBF96}"/>
              </a:ext>
            </a:extLst>
          </p:cNvPr>
          <p:cNvSpPr>
            <a:spLocks xmlns:a="http://schemas.openxmlformats.org/drawingml/2006/main" noGrp="1"/>
          </p:cNvSpPr>
          <p:nvPr/>
        </p:nvSpPr>
        <p:spPr>
          <a:xfrm xmlns:a="http://schemas.openxmlformats.org/drawingml/2006/main">
            <a:off x="8924925" y="2924175"/>
            <a:ext cx="24098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Charlie applies a stricter threshold to Bob’s forwarded copy.</a:t>
            </a:r>
          </a:p>
        </p:txBody>
      </p:sp>
      <p:sp>
        <p:nvSpPr>
          <p:cNvPr id="17429" name="">
            <a:extLst xmlns:a="http://schemas.openxmlformats.org/drawingml/2006/main">
              <a:ext uri="{FF2B5EF4-FFF2-40B4-BE49-F238E27FC236}">
                <a16:creationId xmlns:a16="http://schemas.microsoft.com/office/drawing/2014/main" id="{6249C14A-B92D-4D59-BDD9-807E78F6F511}"/>
              </a:ext>
            </a:extLst>
          </p:cNvPr>
          <p:cNvSpPr>
            <a:spLocks xmlns:a="http://schemas.openxmlformats.org/drawingml/2006/main" noGrp="1"/>
          </p:cNvSpPr>
          <p:nvPr/>
        </p:nvSpPr>
        <p:spPr>
          <a:xfrm xmlns:a="http://schemas.openxmlformats.org/drawingml/2006/main">
            <a:off x="542925" y="3895725"/>
            <a:ext cx="108299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0" name="">
            <a:extLst xmlns:a="http://schemas.openxmlformats.org/drawingml/2006/main">
              <a:ext uri="{FF2B5EF4-FFF2-40B4-BE49-F238E27FC236}">
                <a16:creationId xmlns:a16="http://schemas.microsoft.com/office/drawing/2014/main" id="{CA9F57AD-C31B-4469-B73D-259EED890EE9}"/>
              </a:ext>
            </a:extLst>
          </p:cNvPr>
          <p:cNvSpPr>
            <a:spLocks xmlns:a="http://schemas.openxmlformats.org/drawingml/2006/main" noGrp="1"/>
          </p:cNvSpPr>
          <p:nvPr/>
        </p:nvSpPr>
        <p:spPr>
          <a:xfrm xmlns:a="http://schemas.openxmlformats.org/drawingml/2006/main">
            <a:off x="542925" y="404812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F27922"/>
                </a:solidFill>
                <a:latin typeface="Arial"/>
                <a:ea typeface="Arial"/>
                <a:cs typeface="Arial"/>
              </a:defRPr>
            </a:pPr>
            <a:r>
              <a:rPr sz="1350" b="1">
                <a:solidFill>
                  <a:srgbClr val="F27922"/>
                </a:solidFill>
                <a:latin typeface="Arial"/>
                <a:ea typeface="Arial"/>
                <a:cs typeface="Arial"/>
              </a:rPr>
              <a:t>CHANNEL PATH</a:t>
            </a:r>
          </a:p>
        </p:txBody>
      </p:sp>
      <p:sp>
        <p:nvSpPr>
          <p:cNvPr id="17431" name="">
            <a:extLst xmlns:a="http://schemas.openxmlformats.org/drawingml/2006/main">
              <a:ext uri="{FF2B5EF4-FFF2-40B4-BE49-F238E27FC236}">
                <a16:creationId xmlns:a16="http://schemas.microsoft.com/office/drawing/2014/main" id="{8066F9B6-94B2-4617-938E-9894453A958B}"/>
              </a:ext>
            </a:extLst>
          </p:cNvPr>
          <p:cNvSpPr>
            <a:spLocks xmlns:a="http://schemas.openxmlformats.org/drawingml/2006/main" noGrp="1"/>
          </p:cNvSpPr>
          <p:nvPr/>
        </p:nvSpPr>
        <p:spPr>
          <a:xfrm xmlns:a="http://schemas.openxmlformats.org/drawingml/2006/main">
            <a:off x="542925" y="43624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Separate test qubits are grouped by Bell outcome and measurement basis. Twenty statistical checks look for local error patterns, excessive loss, or missing evidence.</a:t>
            </a:r>
          </a:p>
        </p:txBody>
      </p:sp>
      <p:sp>
        <p:nvSpPr>
          <p:cNvPr id="17432" name="">
            <a:extLst xmlns:a="http://schemas.openxmlformats.org/drawingml/2006/main">
              <a:ext uri="{FF2B5EF4-FFF2-40B4-BE49-F238E27FC236}">
                <a16:creationId xmlns:a16="http://schemas.microsoft.com/office/drawing/2014/main" id="{620AD659-57CA-447A-9CAA-C3F39B785B0C}"/>
              </a:ext>
            </a:extLst>
          </p:cNvPr>
          <p:cNvSpPr>
            <a:spLocks xmlns:a="http://schemas.openxmlformats.org/drawingml/2006/main" noGrp="1"/>
          </p:cNvSpPr>
          <p:nvPr/>
        </p:nvSpPr>
        <p:spPr>
          <a:xfrm xmlns:a="http://schemas.openxmlformats.org/drawingml/2006/main">
            <a:off x="542925" y="5076825"/>
            <a:ext cx="108299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3" name="">
            <a:extLst xmlns:a="http://schemas.openxmlformats.org/drawingml/2006/main">
              <a:ext uri="{FF2B5EF4-FFF2-40B4-BE49-F238E27FC236}">
                <a16:creationId xmlns:a16="http://schemas.microsoft.com/office/drawing/2014/main" id="{72A3A18D-B3D3-4913-B7FD-0AFE20619F9B}"/>
              </a:ext>
            </a:extLst>
          </p:cNvPr>
          <p:cNvSpPr>
            <a:spLocks xmlns:a="http://schemas.openxmlformats.org/drawingml/2006/main" noGrp="1"/>
          </p:cNvSpPr>
          <p:nvPr/>
        </p:nvSpPr>
        <p:spPr>
          <a:xfrm xmlns:a="http://schemas.openxmlformats.org/drawingml/2006/main">
            <a:off x="542925" y="5210175"/>
            <a:ext cx="3333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18794E"/>
                </a:solidFill>
                <a:latin typeface="Arial"/>
                <a:ea typeface="Arial"/>
                <a:cs typeface="Arial"/>
              </a:defRPr>
            </a:pPr>
            <a:r>
              <a:rPr sz="1350" b="1">
                <a:solidFill>
                  <a:srgbClr val="18794E"/>
                </a:solidFill>
                <a:latin typeface="Arial"/>
                <a:ea typeface="Arial"/>
                <a:cs typeface="Arial"/>
              </a:rPr>
              <a:t>ACCESS PATH</a:t>
            </a:r>
          </a:p>
        </p:txBody>
      </p:sp>
      <p:sp>
        <p:nvSpPr>
          <p:cNvPr id="17434" name="">
            <a:extLst xmlns:a="http://schemas.openxmlformats.org/drawingml/2006/main">
              <a:ext uri="{FF2B5EF4-FFF2-40B4-BE49-F238E27FC236}">
                <a16:creationId xmlns:a16="http://schemas.microsoft.com/office/drawing/2014/main" id="{04CD805F-96C1-4FC4-AF46-E1D997B934A8}"/>
              </a:ext>
            </a:extLst>
          </p:cNvPr>
          <p:cNvSpPr>
            <a:spLocks xmlns:a="http://schemas.openxmlformats.org/drawingml/2006/main" noGrp="1"/>
          </p:cNvSpPr>
          <p:nvPr/>
        </p:nvSpPr>
        <p:spPr>
          <a:xfrm xmlns:a="http://schemas.openxmlformats.org/drawingml/2006/main">
            <a:off x="542925" y="5524500"/>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Authenticated messages bind identity and session. A persistent receipt blocks duplicate execution.</a:t>
            </a:r>
          </a:p>
        </p:txBody>
      </p:sp>
      <p:sp>
        <p:nvSpPr>
          <p:cNvPr id="17435" name="">
            <a:extLst xmlns:a="http://schemas.openxmlformats.org/drawingml/2006/main">
              <a:ext uri="{FF2B5EF4-FFF2-40B4-BE49-F238E27FC236}">
                <a16:creationId xmlns:a16="http://schemas.microsoft.com/office/drawing/2014/main" id="{B6C5C508-BC45-410F-87B3-0A5F97BC7D6D}"/>
              </a:ext>
            </a:extLst>
          </p:cNvPr>
          <p:cNvSpPr>
            <a:spLocks xmlns:a="http://schemas.openxmlformats.org/drawingml/2006/main" noGrp="1"/>
          </p:cNvSpPr>
          <p:nvPr/>
        </p:nvSpPr>
        <p:spPr>
          <a:xfrm xmlns:a="http://schemas.openxmlformats.org/drawingml/2006/main">
            <a:off x="542925" y="6000750"/>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Implementation: Python, NumPy, SQLite and browser UI. No AI model or training.</a:t>
            </a:r>
          </a:p>
        </p:txBody>
      </p:sp>
    </p:spTree>
    <p:extLst>
      <p:ext uri="{BB962C8B-B14F-4D97-AF65-F5344CB8AC3E}">
        <p14:creationId xmlns:p14="http://schemas.microsoft.com/office/powerpoint/2010/main" val="64057916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FA6DA26-5F1F-4A1C-8A5A-E94B255D8117}"/>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1533FA41-1CE4-4B17-A31D-A436A9BCA1C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1B030D30-C116-4FD9-9C61-EE02A8CC8D7E}"/>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0" name="Picture 10"/>
          <p:cNvPicPr>
            <a:picLocks xmlns:a="http://schemas.openxmlformats.org/drawingml/2006/main" noChangeAspect="1"/>
          </p:cNvPicPr>
          <p:nvPr/>
        </p:nvPicPr>
        <p:blipFill>
          <a:blip xmlns:r="http://schemas.openxmlformats.org/officeDocument/2006/relationships" xmlns:a="http://schemas.openxmlformats.org/drawingml/2006/main" r:embed="R6539f3ccc98142ef"/>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C2E83AEE-2F37-43F9-8955-88579A110A2F}"/>
              </a:ext>
            </a:extLst>
          </p:cNvPr>
          <p:cNvSpPr>
            <a:spLocks xmlns:a="http://schemas.openxmlformats.org/drawingml/2006/main" noGrp="1"/>
          </p:cNvSpPr>
          <p:nvPr/>
        </p:nvSpPr>
        <p:spPr>
          <a:xfrm xmlns:a="http://schemas.openxmlformats.org/drawingml/2006/main">
            <a:off x="533400" y="14001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In the targeted test, the two detectors diverged</a:t>
            </a:r>
          </a:p>
        </p:txBody>
      </p:sp>
      <p:sp>
        <p:nvSpPr>
          <p:cNvPr id="17413" name="">
            <a:extLst xmlns:a="http://schemas.openxmlformats.org/drawingml/2006/main">
              <a:ext uri="{FF2B5EF4-FFF2-40B4-BE49-F238E27FC236}">
                <a16:creationId xmlns:a16="http://schemas.microsoft.com/office/drawing/2014/main" id="{B1C1BFD9-04D3-4C8F-A3A3-B7024E9FD867}"/>
              </a:ext>
            </a:extLst>
          </p:cNvPr>
          <p:cNvSpPr>
            <a:spLocks xmlns:a="http://schemas.openxmlformats.org/drawingml/2006/main" noGrp="1"/>
          </p:cNvSpPr>
          <p:nvPr/>
        </p:nvSpPr>
        <p:spPr>
          <a:xfrm xmlns:a="http://schemas.openxmlformats.org/drawingml/2006/main">
            <a:off x="561975" y="1981200"/>
            <a:ext cx="714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1">
                <a:solidFill>
                  <a:srgbClr val="142F4A"/>
                </a:solidFill>
                <a:latin typeface="Arial"/>
                <a:ea typeface="Arial"/>
                <a:cs typeface="Arial"/>
              </a:defRPr>
            </a:pPr>
            <a:r>
              <a:rPr sz="1500" b="1">
                <a:solidFill>
                  <a:srgbClr val="142F4A"/>
                </a:solidFill>
                <a:latin typeface="Arial"/>
                <a:ea typeface="Arial"/>
                <a:cs typeface="Arial"/>
              </a:rPr>
              <a:t>Targeted batches flagged: 0 vs 19,967 of 20,000</a:t>
            </a:r>
          </a:p>
        </p:txBody>
      </p:sp>
      <p:graphicFrame>
        <p:nvGraphicFramePr>
          <p:cNvPr id="17433" name="Chart"/>
          <p:cNvGraphicFramePr/>
          <p:nvPr/>
        </p:nvGraphicFramePr>
        <p:xfrm>
          <a:off xmlns:a="http://schemas.openxmlformats.org/drawingml/2006/main" x="552450" y="2276475"/>
          <a:ext xmlns:a="http://schemas.openxmlformats.org/drawingml/2006/main" cx="7048500" cy="2667000"/>
        </p:xfrm>
        <a:graphic xmlns:a="http://schemas.openxmlformats.org/drawingml/2006/main">
          <a:graphicData uri="http://schemas.openxmlformats.org/drawingml/2006/chart">
            <c:chart xmlns:r="http://schemas.openxmlformats.org/officeDocument/2006/relationships" xmlns:c="http://schemas.openxmlformats.org/drawingml/2006/chart" r:id="R5e9ac2fe9fa3417c"/>
          </a:graphicData>
        </a:graphic>
      </p:graphicFrame>
      <p:sp>
        <p:nvSpPr>
          <p:cNvPr id="17415" name="">
            <a:extLst xmlns:a="http://schemas.openxmlformats.org/drawingml/2006/main">
              <a:ext uri="{FF2B5EF4-FFF2-40B4-BE49-F238E27FC236}">
                <a16:creationId xmlns:a16="http://schemas.microsoft.com/office/drawing/2014/main" id="{E1A777F5-C85E-41BD-8A24-CB7D7EB3FA55}"/>
              </a:ext>
            </a:extLst>
          </p:cNvPr>
          <p:cNvSpPr>
            <a:spLocks xmlns:a="http://schemas.openxmlformats.org/drawingml/2006/main" noGrp="1"/>
          </p:cNvSpPr>
          <p:nvPr/>
        </p:nvSpPr>
        <p:spPr>
          <a:xfrm xmlns:a="http://schemas.openxmlformats.org/drawingml/2006/main">
            <a:off x="7877175" y="2295525"/>
            <a:ext cx="28575" cy="2733675"/>
          </a:xfrm>
          <a:prstGeom xmlns:a="http://schemas.openxmlformats.org/drawingml/2006/main" prst="rect">
            <a:avLst/>
          </a:prstGeom>
          <a:solidFill xmlns:a="http://schemas.openxmlformats.org/drawingml/2006/main">
            <a:srgbClr val="0876BE"/>
          </a:solidFill>
          <a:ln xmlns:a="http://schemas.openxmlformats.org/drawingml/2006/main" w="0">
            <a:noFill/>
          </a:ln>
        </p:spPr>
      </p:sp>
      <p:sp>
        <p:nvSpPr>
          <p:cNvPr id="17416" name="">
            <a:extLst xmlns:a="http://schemas.openxmlformats.org/drawingml/2006/main">
              <a:ext uri="{FF2B5EF4-FFF2-40B4-BE49-F238E27FC236}">
                <a16:creationId xmlns:a16="http://schemas.microsoft.com/office/drawing/2014/main" id="{99F9874B-BD0E-4FE4-BA96-28F1C03F89E1}"/>
              </a:ext>
            </a:extLst>
          </p:cNvPr>
          <p:cNvSpPr>
            <a:spLocks xmlns:a="http://schemas.openxmlformats.org/drawingml/2006/main" noGrp="1"/>
          </p:cNvSpPr>
          <p:nvPr/>
        </p:nvSpPr>
        <p:spPr>
          <a:xfrm xmlns:a="http://schemas.openxmlformats.org/drawingml/2006/main">
            <a:off x="8105775" y="2343150"/>
            <a:ext cx="32099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224A7B"/>
                </a:solidFill>
                <a:latin typeface="Arial"/>
                <a:ea typeface="Arial"/>
                <a:cs typeface="Arial"/>
              </a:defRPr>
            </a:pPr>
            <a:r>
              <a:rPr sz="1350" b="1">
                <a:solidFill>
                  <a:srgbClr val="224A7B"/>
                </a:solidFill>
                <a:latin typeface="Arial"/>
                <a:ea typeface="Arial"/>
                <a:cs typeface="Arial"/>
              </a:rPr>
              <a:t>WHAT ELSE PASSED</a:t>
            </a:r>
          </a:p>
        </p:txBody>
      </p:sp>
      <p:sp>
        <p:nvSpPr>
          <p:cNvPr id="17417" name="">
            <a:extLst xmlns:a="http://schemas.openxmlformats.org/drawingml/2006/main">
              <a:ext uri="{FF2B5EF4-FFF2-40B4-BE49-F238E27FC236}">
                <a16:creationId xmlns:a16="http://schemas.microsoft.com/office/drawing/2014/main" id="{09D7F6A2-3D3F-48CE-B9C4-3AB8460AAFDB}"/>
              </a:ext>
            </a:extLst>
          </p:cNvPr>
          <p:cNvSpPr>
            <a:spLocks xmlns:a="http://schemas.openxmlformats.org/drawingml/2006/main" noGrp="1"/>
          </p:cNvSpPr>
          <p:nvPr/>
        </p:nvSpPr>
        <p:spPr>
          <a:xfrm xmlns:a="http://schemas.openxmlformats.org/drawingml/2006/main">
            <a:off x="8105775" y="2724150"/>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18794E"/>
                </a:solidFill>
                <a:latin typeface="Arial"/>
                <a:ea typeface="Arial"/>
                <a:cs typeface="Arial"/>
              </a:defRPr>
            </a:pPr>
            <a:r>
              <a:rPr sz="2775" b="1">
                <a:solidFill>
                  <a:srgbClr val="18794E"/>
                </a:solidFill>
                <a:latin typeface="Arial"/>
                <a:ea typeface="Arial"/>
                <a:cs typeface="Arial"/>
              </a:rPr>
              <a:t>200 / 200</a:t>
            </a:r>
          </a:p>
        </p:txBody>
      </p:sp>
      <p:sp>
        <p:nvSpPr>
          <p:cNvPr id="17418" name="">
            <a:extLst xmlns:a="http://schemas.openxmlformats.org/drawingml/2006/main">
              <a:ext uri="{FF2B5EF4-FFF2-40B4-BE49-F238E27FC236}">
                <a16:creationId xmlns:a16="http://schemas.microsoft.com/office/drawing/2014/main" id="{8EF92DFF-5FC7-4FF2-AEB6-62102B6FB52E}"/>
              </a:ext>
            </a:extLst>
          </p:cNvPr>
          <p:cNvSpPr>
            <a:spLocks xmlns:a="http://schemas.openxmlformats.org/drawingml/2006/main" noGrp="1"/>
          </p:cNvSpPr>
          <p:nvPr/>
        </p:nvSpPr>
        <p:spPr>
          <a:xfrm xmlns:a="http://schemas.openxmlformats.org/drawingml/2006/main">
            <a:off x="8115300" y="3181350"/>
            <a:ext cx="31527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honest signatures accepted</a:t>
            </a:r>
          </a:p>
        </p:txBody>
      </p:sp>
      <p:sp>
        <p:nvSpPr>
          <p:cNvPr id="17419" name="">
            <a:extLst xmlns:a="http://schemas.openxmlformats.org/drawingml/2006/main">
              <a:ext uri="{FF2B5EF4-FFF2-40B4-BE49-F238E27FC236}">
                <a16:creationId xmlns:a16="http://schemas.microsoft.com/office/drawing/2014/main" id="{AEA1461B-4EFB-4456-814D-EFB38FDC4B50}"/>
              </a:ext>
            </a:extLst>
          </p:cNvPr>
          <p:cNvSpPr>
            <a:spLocks xmlns:a="http://schemas.openxmlformats.org/drawingml/2006/main" noGrp="1"/>
          </p:cNvSpPr>
          <p:nvPr/>
        </p:nvSpPr>
        <p:spPr>
          <a:xfrm xmlns:a="http://schemas.openxmlformats.org/drawingml/2006/main">
            <a:off x="8105775" y="3743325"/>
            <a:ext cx="31908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75" b="1">
                <a:solidFill>
                  <a:srgbClr val="BE343D"/>
                </a:solidFill>
                <a:latin typeface="Arial"/>
                <a:ea typeface="Arial"/>
                <a:cs typeface="Arial"/>
              </a:defRPr>
            </a:pPr>
            <a:r>
              <a:rPr sz="2775" b="1">
                <a:solidFill>
                  <a:srgbClr val="BE343D"/>
                </a:solidFill>
                <a:latin typeface="Arial"/>
                <a:ea typeface="Arial"/>
                <a:cs typeface="Arial"/>
              </a:rPr>
              <a:t>0 / 200</a:t>
            </a:r>
          </a:p>
        </p:txBody>
      </p:sp>
      <p:sp>
        <p:nvSpPr>
          <p:cNvPr id="17420" name="">
            <a:extLst xmlns:a="http://schemas.openxmlformats.org/drawingml/2006/main">
              <a:ext uri="{FF2B5EF4-FFF2-40B4-BE49-F238E27FC236}">
                <a16:creationId xmlns:a16="http://schemas.microsoft.com/office/drawing/2014/main" id="{11C9256C-2C25-43D8-ACFF-977DEAE0FF6B}"/>
              </a:ext>
            </a:extLst>
          </p:cNvPr>
          <p:cNvSpPr>
            <a:spLocks xmlns:a="http://schemas.openxmlformats.org/drawingml/2006/main" noGrp="1"/>
          </p:cNvSpPr>
          <p:nvPr/>
        </p:nvSpPr>
        <p:spPr>
          <a:xfrm xmlns:a="http://schemas.openxmlformats.org/drawingml/2006/main">
            <a:off x="8115300" y="4210050"/>
            <a:ext cx="31337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dishonest-recipient forgeries accepted</a:t>
            </a:r>
          </a:p>
        </p:txBody>
      </p:sp>
      <p:sp>
        <p:nvSpPr>
          <p:cNvPr id="17421" name="">
            <a:extLst xmlns:a="http://schemas.openxmlformats.org/drawingml/2006/main">
              <a:ext uri="{FF2B5EF4-FFF2-40B4-BE49-F238E27FC236}">
                <a16:creationId xmlns:a16="http://schemas.microsoft.com/office/drawing/2014/main" id="{7848D0C7-3949-46F2-A297-D72B2544FDA9}"/>
              </a:ext>
            </a:extLst>
          </p:cNvPr>
          <p:cNvSpPr>
            <a:spLocks xmlns:a="http://schemas.openxmlformats.org/drawingml/2006/main" noGrp="1"/>
          </p:cNvSpPr>
          <p:nvPr/>
        </p:nvSpPr>
        <p:spPr>
          <a:xfrm xmlns:a="http://schemas.openxmlformats.org/drawingml/2006/main">
            <a:off x="8115300" y="4810125"/>
            <a:ext cx="314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125" b="1">
                <a:solidFill>
                  <a:srgbClr val="526477"/>
                </a:solidFill>
                <a:latin typeface="Arial"/>
                <a:ea typeface="Arial"/>
                <a:cs typeface="Arial"/>
              </a:defRPr>
            </a:pPr>
            <a:r>
              <a:rPr sz="1125" b="1">
                <a:solidFill>
                  <a:srgbClr val="526477"/>
                </a:solidFill>
                <a:latin typeface="Arial"/>
                <a:ea typeface="Arial"/>
                <a:cs typeface="Arial"/>
              </a:rPr>
              <a:t>Ordinary noise: 0 / 20,000 observed alarms</a:t>
            </a:r>
          </a:p>
        </p:txBody>
      </p:sp>
      <p:sp>
        <p:nvSpPr>
          <p:cNvPr id="17422" name="">
            <a:extLst xmlns:a="http://schemas.openxmlformats.org/drawingml/2006/main">
              <a:ext uri="{FF2B5EF4-FFF2-40B4-BE49-F238E27FC236}">
                <a16:creationId xmlns:a16="http://schemas.microsoft.com/office/drawing/2014/main" id="{499358EF-6556-48BB-A6A7-0201DCADB507}"/>
              </a:ext>
            </a:extLst>
          </p:cNvPr>
          <p:cNvSpPr>
            <a:spLocks xmlns:a="http://schemas.openxmlformats.org/drawingml/2006/main" noGrp="1"/>
          </p:cNvSpPr>
          <p:nvPr/>
        </p:nvSpPr>
        <p:spPr>
          <a:xfrm xmlns:a="http://schemas.openxmlformats.org/drawingml/2006/main">
            <a:off x="542925" y="5219700"/>
            <a:ext cx="1081087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72971BA3-0116-4508-A596-B5CA6955A9CD}"/>
              </a:ext>
            </a:extLst>
          </p:cNvPr>
          <p:cNvSpPr>
            <a:spLocks xmlns:a="http://schemas.openxmlformats.org/drawingml/2006/main" noGrp="1"/>
          </p:cNvSpPr>
          <p:nvPr/>
        </p:nvSpPr>
        <p:spPr>
          <a:xfrm xmlns:a="http://schemas.openxmlformats.org/drawingml/2006/main">
            <a:off x="561975" y="5314950"/>
            <a:ext cx="10715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Test conditions: independent simulated signals, known 2% baseline, 2,048 probes per outcome, 1% family false-alarm allowance.</a:t>
            </a:r>
          </a:p>
        </p:txBody>
      </p:sp>
      <p:sp>
        <p:nvSpPr>
          <p:cNvPr id="17424" name="">
            <a:extLst xmlns:a="http://schemas.openxmlformats.org/drawingml/2006/main">
              <a:ext uri="{FF2B5EF4-FFF2-40B4-BE49-F238E27FC236}">
                <a16:creationId xmlns:a16="http://schemas.microsoft.com/office/drawing/2014/main" id="{FDD63435-D766-4122-B5E7-186E4A4DD9AC}"/>
              </a:ext>
            </a:extLst>
          </p:cNvPr>
          <p:cNvSpPr>
            <a:spLocks xmlns:a="http://schemas.openxmlformats.org/drawingml/2006/main" noGrp="1"/>
          </p:cNvSpPr>
          <p:nvPr/>
        </p:nvSpPr>
        <p:spPr>
          <a:xfrm xmlns:a="http://schemas.openxmlformats.org/drawingml/2006/main">
            <a:off x="561975" y="5810250"/>
            <a:ext cx="10715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1">
                <a:solidFill>
                  <a:srgbClr val="526477"/>
                </a:solidFill>
                <a:latin typeface="Arial"/>
                <a:ea typeface="Arial"/>
                <a:cs typeface="Arial"/>
              </a:defRPr>
            </a:pPr>
            <a:r>
              <a:rPr sz="1275" b="1">
                <a:solidFill>
                  <a:srgbClr val="526477"/>
                </a:solidFill>
                <a:latin typeface="Arial"/>
                <a:ea typeface="Arial"/>
                <a:cs typeface="Arial"/>
              </a:rPr>
              <a:t>Limits: a fault can mimic an attack. Missing data is insufficient evidence. Zero forgeries here is no proof of zero risk.</a:t>
            </a:r>
          </a:p>
        </p:txBody>
      </p: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2BDE01EB-3B9C-4108-8EDE-CD398DD5EF1B}"/>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9F83E66B-EC05-4C10-A03C-30D3AD9D0D1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99B7A2C6-BF1D-4741-B65E-BACA3BE2739A}"/>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6" name="Picture 10"/>
          <p:cNvPicPr>
            <a:picLocks xmlns:a="http://schemas.openxmlformats.org/drawingml/2006/main" noChangeAspect="1"/>
          </p:cNvPicPr>
          <p:nvPr/>
        </p:nvPicPr>
        <p:blipFill>
          <a:blip xmlns:r="http://schemas.openxmlformats.org/officeDocument/2006/relationships" xmlns:a="http://schemas.openxmlformats.org/drawingml/2006/main" r:embed="R40600b8a45d14aa7"/>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1C660B41-EDC5-49C0-9403-6872743BBA8D}"/>
              </a:ext>
            </a:extLst>
          </p:cNvPr>
          <p:cNvSpPr>
            <a:spLocks xmlns:a="http://schemas.openxmlformats.org/drawingml/2006/main" noGrp="1"/>
          </p:cNvSpPr>
          <p:nvPr/>
        </p:nvSpPr>
        <p:spPr>
          <a:xfrm xmlns:a="http://schemas.openxmlformats.org/drawingml/2006/main">
            <a:off x="533400" y="1400175"/>
            <a:ext cx="10953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224A7B"/>
                </a:solidFill>
                <a:latin typeface="Arial"/>
                <a:ea typeface="Arial"/>
                <a:cs typeface="Arial"/>
              </a:defRPr>
            </a:pPr>
            <a:r>
              <a:rPr sz="2325" b="1">
                <a:solidFill>
                  <a:srgbClr val="224A7B"/>
                </a:solidFill>
                <a:latin typeface="Arial"/>
                <a:ea typeface="Arial"/>
                <a:cs typeface="Arial"/>
              </a:rPr>
              <a:t>A valid signature can still require a blocked action</a:t>
            </a:r>
          </a:p>
        </p:txBody>
      </p:sp>
      <p:sp>
        <p:nvSpPr>
          <p:cNvPr id="17413" name="">
            <a:extLst xmlns:a="http://schemas.openxmlformats.org/drawingml/2006/main">
              <a:ext uri="{FF2B5EF4-FFF2-40B4-BE49-F238E27FC236}">
                <a16:creationId xmlns:a16="http://schemas.microsoft.com/office/drawing/2014/main" id="{9F53B5B4-0CFE-40A6-8276-5DAF9AD3E78B}"/>
              </a:ext>
            </a:extLst>
          </p:cNvPr>
          <p:cNvSpPr>
            <a:spLocks xmlns:a="http://schemas.openxmlformats.org/drawingml/2006/main" noGrp="1"/>
          </p:cNvSpPr>
          <p:nvPr/>
        </p:nvSpPr>
        <p:spPr>
          <a:xfrm xmlns:a="http://schemas.openxmlformats.org/drawingml/2006/main">
            <a:off x="552450" y="1971675"/>
            <a:ext cx="1057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142F4A"/>
                </a:solidFill>
                <a:latin typeface="Arial"/>
                <a:ea typeface="Arial"/>
                <a:cs typeface="Arial"/>
              </a:defRPr>
            </a:pPr>
            <a:r>
              <a:rPr sz="1575" b="0">
                <a:solidFill>
                  <a:srgbClr val="142F4A"/>
                </a:solidFill>
                <a:latin typeface="Arial"/>
                <a:ea typeface="Arial"/>
                <a:cs typeface="Arial"/>
              </a:rPr>
              <a:t>Example: Alice’s release approval is authentic, but the delivery channel is abnormal.</a:t>
            </a:r>
          </a:p>
        </p:txBody>
      </p:sp>
      <p:sp>
        <p:nvSpPr>
          <p:cNvPr id="17414" name="">
            <a:extLst xmlns:a="http://schemas.openxmlformats.org/drawingml/2006/main">
              <a:ext uri="{FF2B5EF4-FFF2-40B4-BE49-F238E27FC236}">
                <a16:creationId xmlns:a16="http://schemas.microsoft.com/office/drawing/2014/main" id="{BF8CA597-F1D1-4B21-97E6-222A9A651639}"/>
              </a:ext>
            </a:extLst>
          </p:cNvPr>
          <p:cNvSpPr>
            <a:spLocks xmlns:a="http://schemas.openxmlformats.org/drawingml/2006/main" noGrp="1"/>
          </p:cNvSpPr>
          <p:nvPr/>
        </p:nvSpPr>
        <p:spPr>
          <a:xfrm xmlns:a="http://schemas.openxmlformats.org/drawingml/2006/main">
            <a:off x="552450" y="2581275"/>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5" name="">
            <a:extLst xmlns:a="http://schemas.openxmlformats.org/drawingml/2006/main">
              <a:ext uri="{FF2B5EF4-FFF2-40B4-BE49-F238E27FC236}">
                <a16:creationId xmlns:a16="http://schemas.microsoft.com/office/drawing/2014/main" id="{EA34D923-5E47-4DAE-86B5-5CC1D46E734E}"/>
              </a:ext>
            </a:extLst>
          </p:cNvPr>
          <p:cNvSpPr>
            <a:spLocks xmlns:a="http://schemas.openxmlformats.org/drawingml/2006/main" noGrp="1"/>
          </p:cNvSpPr>
          <p:nvPr/>
        </p:nvSpPr>
        <p:spPr>
          <a:xfrm xmlns:a="http://schemas.openxmlformats.org/drawingml/2006/main">
            <a:off x="581025" y="269557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SIGNATURE</a:t>
            </a:r>
          </a:p>
        </p:txBody>
      </p:sp>
      <p:sp>
        <p:nvSpPr>
          <p:cNvPr id="17416" name="">
            <a:extLst xmlns:a="http://schemas.openxmlformats.org/drawingml/2006/main">
              <a:ext uri="{FF2B5EF4-FFF2-40B4-BE49-F238E27FC236}">
                <a16:creationId xmlns:a16="http://schemas.microsoft.com/office/drawing/2014/main" id="{46D6D4BC-B5B3-4238-947E-9462389C3562}"/>
              </a:ext>
            </a:extLst>
          </p:cNvPr>
          <p:cNvSpPr>
            <a:spLocks xmlns:a="http://schemas.openxmlformats.org/drawingml/2006/main" noGrp="1"/>
          </p:cNvSpPr>
          <p:nvPr/>
        </p:nvSpPr>
        <p:spPr>
          <a:xfrm xmlns:a="http://schemas.openxmlformats.org/drawingml/2006/main">
            <a:off x="2419350" y="269557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8794E"/>
                </a:solidFill>
                <a:latin typeface="Arial"/>
                <a:ea typeface="Arial"/>
                <a:cs typeface="Arial"/>
              </a:defRPr>
            </a:pPr>
            <a:r>
              <a:rPr sz="1725" b="1">
                <a:solidFill>
                  <a:srgbClr val="18794E"/>
                </a:solidFill>
                <a:latin typeface="Arial"/>
                <a:ea typeface="Arial"/>
                <a:cs typeface="Arial"/>
              </a:rPr>
              <a:t>VALID</a:t>
            </a:r>
          </a:p>
        </p:txBody>
      </p:sp>
      <p:sp>
        <p:nvSpPr>
          <p:cNvPr id="17417" name="">
            <a:extLst xmlns:a="http://schemas.openxmlformats.org/drawingml/2006/main">
              <a:ext uri="{FF2B5EF4-FFF2-40B4-BE49-F238E27FC236}">
                <a16:creationId xmlns:a16="http://schemas.microsoft.com/office/drawing/2014/main" id="{C66444A4-D68D-4678-A387-CFDD661CC6ED}"/>
              </a:ext>
            </a:extLst>
          </p:cNvPr>
          <p:cNvSpPr>
            <a:spLocks xmlns:a="http://schemas.openxmlformats.org/drawingml/2006/main" noGrp="1"/>
          </p:cNvSpPr>
          <p:nvPr/>
        </p:nvSpPr>
        <p:spPr>
          <a:xfrm xmlns:a="http://schemas.openxmlformats.org/drawingml/2006/main">
            <a:off x="4800600" y="2695575"/>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Alice’s declaration matches the stored recipient records.</a:t>
            </a:r>
          </a:p>
        </p:txBody>
      </p:sp>
      <p:sp>
        <p:nvSpPr>
          <p:cNvPr id="17418" name="">
            <a:extLst xmlns:a="http://schemas.openxmlformats.org/drawingml/2006/main">
              <a:ext uri="{FF2B5EF4-FFF2-40B4-BE49-F238E27FC236}">
                <a16:creationId xmlns:a16="http://schemas.microsoft.com/office/drawing/2014/main" id="{AE14F783-221C-4DDE-88A1-BED35123D8FA}"/>
              </a:ext>
            </a:extLst>
          </p:cNvPr>
          <p:cNvSpPr>
            <a:spLocks xmlns:a="http://schemas.openxmlformats.org/drawingml/2006/main" noGrp="1"/>
          </p:cNvSpPr>
          <p:nvPr/>
        </p:nvSpPr>
        <p:spPr>
          <a:xfrm xmlns:a="http://schemas.openxmlformats.org/drawingml/2006/main">
            <a:off x="552450" y="3314700"/>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9" name="">
            <a:extLst xmlns:a="http://schemas.openxmlformats.org/drawingml/2006/main">
              <a:ext uri="{FF2B5EF4-FFF2-40B4-BE49-F238E27FC236}">
                <a16:creationId xmlns:a16="http://schemas.microsoft.com/office/drawing/2014/main" id="{7B1B911C-224F-47F5-9F40-F944C75A1BD3}"/>
              </a:ext>
            </a:extLst>
          </p:cNvPr>
          <p:cNvSpPr>
            <a:spLocks xmlns:a="http://schemas.openxmlformats.org/drawingml/2006/main" noGrp="1"/>
          </p:cNvSpPr>
          <p:nvPr/>
        </p:nvSpPr>
        <p:spPr>
          <a:xfrm xmlns:a="http://schemas.openxmlformats.org/drawingml/2006/main">
            <a:off x="581025" y="3429000"/>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CHANNEL</a:t>
            </a:r>
          </a:p>
        </p:txBody>
      </p:sp>
      <p:sp>
        <p:nvSpPr>
          <p:cNvPr id="17420" name="">
            <a:extLst xmlns:a="http://schemas.openxmlformats.org/drawingml/2006/main">
              <a:ext uri="{FF2B5EF4-FFF2-40B4-BE49-F238E27FC236}">
                <a16:creationId xmlns:a16="http://schemas.microsoft.com/office/drawing/2014/main" id="{0BCE9FA6-5F92-4738-87DD-11905CEB3FD8}"/>
              </a:ext>
            </a:extLst>
          </p:cNvPr>
          <p:cNvSpPr>
            <a:spLocks xmlns:a="http://schemas.openxmlformats.org/drawingml/2006/main" noGrp="1"/>
          </p:cNvSpPr>
          <p:nvPr/>
        </p:nvSpPr>
        <p:spPr>
          <a:xfrm xmlns:a="http://schemas.openxmlformats.org/drawingml/2006/main">
            <a:off x="2419350" y="3429000"/>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BE343D"/>
                </a:solidFill>
                <a:latin typeface="Arial"/>
                <a:ea typeface="Arial"/>
                <a:cs typeface="Arial"/>
              </a:defRPr>
            </a:pPr>
            <a:r>
              <a:rPr sz="1725" b="1">
                <a:solidFill>
                  <a:srgbClr val="BE343D"/>
                </a:solidFill>
                <a:latin typeface="Arial"/>
                <a:ea typeface="Arial"/>
                <a:cs typeface="Arial"/>
              </a:rPr>
              <a:t>ANOMALY</a:t>
            </a:r>
          </a:p>
        </p:txBody>
      </p:sp>
      <p:sp>
        <p:nvSpPr>
          <p:cNvPr id="17421" name="">
            <a:extLst xmlns:a="http://schemas.openxmlformats.org/drawingml/2006/main">
              <a:ext uri="{FF2B5EF4-FFF2-40B4-BE49-F238E27FC236}">
                <a16:creationId xmlns:a16="http://schemas.microsoft.com/office/drawing/2014/main" id="{11235FE6-7D66-4F61-BB05-F3B434F5C285}"/>
              </a:ext>
            </a:extLst>
          </p:cNvPr>
          <p:cNvSpPr>
            <a:spLocks xmlns:a="http://schemas.openxmlformats.org/drawingml/2006/main" noGrp="1"/>
          </p:cNvSpPr>
          <p:nvPr/>
        </p:nvSpPr>
        <p:spPr>
          <a:xfrm xmlns:a="http://schemas.openxmlformats.org/drawingml/2006/main">
            <a:off x="4800600" y="3429000"/>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Bell outcome 00 exceeds its allowed error threshold.</a:t>
            </a:r>
          </a:p>
        </p:txBody>
      </p:sp>
      <p:sp>
        <p:nvSpPr>
          <p:cNvPr id="17422" name="">
            <a:extLst xmlns:a="http://schemas.openxmlformats.org/drawingml/2006/main">
              <a:ext uri="{FF2B5EF4-FFF2-40B4-BE49-F238E27FC236}">
                <a16:creationId xmlns:a16="http://schemas.microsoft.com/office/drawing/2014/main" id="{488D51A5-68FA-4FD0-8FD2-8DBB4384BDAB}"/>
              </a:ext>
            </a:extLst>
          </p:cNvPr>
          <p:cNvSpPr>
            <a:spLocks xmlns:a="http://schemas.openxmlformats.org/drawingml/2006/main" noGrp="1"/>
          </p:cNvSpPr>
          <p:nvPr/>
        </p:nvSpPr>
        <p:spPr>
          <a:xfrm xmlns:a="http://schemas.openxmlformats.org/drawingml/2006/main">
            <a:off x="552450" y="4048125"/>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3" name="">
            <a:extLst xmlns:a="http://schemas.openxmlformats.org/drawingml/2006/main">
              <a:ext uri="{FF2B5EF4-FFF2-40B4-BE49-F238E27FC236}">
                <a16:creationId xmlns:a16="http://schemas.microsoft.com/office/drawing/2014/main" id="{6BB137A6-EE2C-47E2-9A00-5B8836CB38E9}"/>
              </a:ext>
            </a:extLst>
          </p:cNvPr>
          <p:cNvSpPr>
            <a:spLocks xmlns:a="http://schemas.openxmlformats.org/drawingml/2006/main" noGrp="1"/>
          </p:cNvSpPr>
          <p:nvPr/>
        </p:nvSpPr>
        <p:spPr>
          <a:xfrm xmlns:a="http://schemas.openxmlformats.org/drawingml/2006/main">
            <a:off x="581025" y="4162425"/>
            <a:ext cx="1809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REQUEST</a:t>
            </a:r>
          </a:p>
        </p:txBody>
      </p:sp>
      <p:sp>
        <p:nvSpPr>
          <p:cNvPr id="17424" name="">
            <a:extLst xmlns:a="http://schemas.openxmlformats.org/drawingml/2006/main">
              <a:ext uri="{FF2B5EF4-FFF2-40B4-BE49-F238E27FC236}">
                <a16:creationId xmlns:a16="http://schemas.microsoft.com/office/drawing/2014/main" id="{AF5A9699-01F6-448E-9F60-FA5C64D5E04C}"/>
              </a:ext>
            </a:extLst>
          </p:cNvPr>
          <p:cNvSpPr>
            <a:spLocks xmlns:a="http://schemas.openxmlformats.org/drawingml/2006/main" noGrp="1"/>
          </p:cNvSpPr>
          <p:nvPr/>
        </p:nvSpPr>
        <p:spPr>
          <a:xfrm xmlns:a="http://schemas.openxmlformats.org/drawingml/2006/main">
            <a:off x="2419350" y="416242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1">
                <a:solidFill>
                  <a:srgbClr val="18794E"/>
                </a:solidFill>
                <a:latin typeface="Arial"/>
                <a:ea typeface="Arial"/>
                <a:cs typeface="Arial"/>
              </a:defRPr>
            </a:pPr>
            <a:r>
              <a:rPr sz="1725" b="1">
                <a:solidFill>
                  <a:srgbClr val="18794E"/>
                </a:solidFill>
                <a:latin typeface="Arial"/>
                <a:ea typeface="Arial"/>
                <a:cs typeface="Arial"/>
              </a:rPr>
              <a:t>AUTHORIZED</a:t>
            </a:r>
          </a:p>
        </p:txBody>
      </p:sp>
      <p:sp>
        <p:nvSpPr>
          <p:cNvPr id="17425" name="">
            <a:extLst xmlns:a="http://schemas.openxmlformats.org/drawingml/2006/main">
              <a:ext uri="{FF2B5EF4-FFF2-40B4-BE49-F238E27FC236}">
                <a16:creationId xmlns:a16="http://schemas.microsoft.com/office/drawing/2014/main" id="{87041E0A-5185-4CA9-91CE-52F89F433EDC}"/>
              </a:ext>
            </a:extLst>
          </p:cNvPr>
          <p:cNvSpPr>
            <a:spLocks xmlns:a="http://schemas.openxmlformats.org/drawingml/2006/main" noGrp="1"/>
          </p:cNvSpPr>
          <p:nvPr/>
        </p:nvSpPr>
        <p:spPr>
          <a:xfrm xmlns:a="http://schemas.openxmlformats.org/drawingml/2006/main">
            <a:off x="4800600" y="4162425"/>
            <a:ext cx="6267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00" b="0">
                <a:solidFill>
                  <a:srgbClr val="142F4A"/>
                </a:solidFill>
                <a:latin typeface="Arial"/>
                <a:ea typeface="Arial"/>
                <a:cs typeface="Arial"/>
              </a:defRPr>
            </a:pPr>
            <a:r>
              <a:rPr sz="1500" b="0">
                <a:solidFill>
                  <a:srgbClr val="142F4A"/>
                </a:solidFill>
                <a:latin typeface="Arial"/>
                <a:ea typeface="Arial"/>
                <a:cs typeface="Arial"/>
              </a:rPr>
              <a:t>Bob is permitted to verify this registered session.</a:t>
            </a:r>
          </a:p>
        </p:txBody>
      </p:sp>
      <p:sp>
        <p:nvSpPr>
          <p:cNvPr id="17426" name="">
            <a:extLst xmlns:a="http://schemas.openxmlformats.org/drawingml/2006/main">
              <a:ext uri="{FF2B5EF4-FFF2-40B4-BE49-F238E27FC236}">
                <a16:creationId xmlns:a16="http://schemas.microsoft.com/office/drawing/2014/main" id="{60037AC9-8828-46A9-B463-981235CEAE62}"/>
              </a:ext>
            </a:extLst>
          </p:cNvPr>
          <p:cNvSpPr>
            <a:spLocks xmlns:a="http://schemas.openxmlformats.org/drawingml/2006/main" noGrp="1"/>
          </p:cNvSpPr>
          <p:nvPr/>
        </p:nvSpPr>
        <p:spPr>
          <a:xfrm xmlns:a="http://schemas.openxmlformats.org/drawingml/2006/main">
            <a:off x="552450" y="4781550"/>
            <a:ext cx="10639425"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7" name="">
            <a:extLst xmlns:a="http://schemas.openxmlformats.org/drawingml/2006/main">
              <a:ext uri="{FF2B5EF4-FFF2-40B4-BE49-F238E27FC236}">
                <a16:creationId xmlns:a16="http://schemas.microsoft.com/office/drawing/2014/main" id="{E9F6A4B3-DB81-41EA-8934-D51FC2662444}"/>
              </a:ext>
            </a:extLst>
          </p:cNvPr>
          <p:cNvSpPr>
            <a:spLocks xmlns:a="http://schemas.openxmlformats.org/drawingml/2006/main" noGrp="1"/>
          </p:cNvSpPr>
          <p:nvPr/>
        </p:nvSpPr>
        <p:spPr>
          <a:xfrm xmlns:a="http://schemas.openxmlformats.org/drawingml/2006/main">
            <a:off x="571500" y="4953000"/>
            <a:ext cx="2000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ACTION</a:t>
            </a:r>
          </a:p>
        </p:txBody>
      </p:sp>
      <p:sp>
        <p:nvSpPr>
          <p:cNvPr id="17428" name="">
            <a:extLst xmlns:a="http://schemas.openxmlformats.org/drawingml/2006/main">
              <a:ext uri="{FF2B5EF4-FFF2-40B4-BE49-F238E27FC236}">
                <a16:creationId xmlns:a16="http://schemas.microsoft.com/office/drawing/2014/main" id="{FD2E051D-C584-41C6-850F-3C61C53E8A71}"/>
              </a:ext>
            </a:extLst>
          </p:cNvPr>
          <p:cNvSpPr>
            <a:spLocks xmlns:a="http://schemas.openxmlformats.org/drawingml/2006/main" noGrp="1"/>
          </p:cNvSpPr>
          <p:nvPr/>
        </p:nvSpPr>
        <p:spPr>
          <a:xfrm xmlns:a="http://schemas.openxmlformats.org/drawingml/2006/main">
            <a:off x="2428875" y="4953000"/>
            <a:ext cx="8743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BE343D"/>
                </a:solidFill>
                <a:latin typeface="Arial"/>
                <a:ea typeface="Arial"/>
                <a:cs typeface="Arial"/>
              </a:defRPr>
            </a:pPr>
            <a:r>
              <a:rPr sz="2100" b="1">
                <a:solidFill>
                  <a:srgbClr val="BE343D"/>
                </a:solidFill>
                <a:latin typeface="Arial"/>
                <a:ea typeface="Arial"/>
                <a:cs typeface="Arial"/>
              </a:rPr>
              <a:t>QUARANTINE THE RELEASE</a:t>
            </a:r>
          </a:p>
        </p:txBody>
      </p:sp>
      <p:sp>
        <p:nvSpPr>
          <p:cNvPr id="17429" name="">
            <a:extLst xmlns:a="http://schemas.openxmlformats.org/drawingml/2006/main">
              <a:ext uri="{FF2B5EF4-FFF2-40B4-BE49-F238E27FC236}">
                <a16:creationId xmlns:a16="http://schemas.microsoft.com/office/drawing/2014/main" id="{B2703BE3-2AD4-4F52-9DCB-4906DFE47713}"/>
              </a:ext>
            </a:extLst>
          </p:cNvPr>
          <p:cNvSpPr>
            <a:spLocks xmlns:a="http://schemas.openxmlformats.org/drawingml/2006/main" noGrp="1"/>
          </p:cNvSpPr>
          <p:nvPr/>
        </p:nvSpPr>
        <p:spPr>
          <a:xfrm xmlns:a="http://schemas.openxmlformats.org/drawingml/2006/main">
            <a:off x="581025" y="5524500"/>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Replay: an authentic signature cannot execute twice because the session receipt is saved.</a:t>
            </a:r>
          </a:p>
        </p:txBody>
      </p:sp>
      <p:sp>
        <p:nvSpPr>
          <p:cNvPr id="17430" name="">
            <a:extLst xmlns:a="http://schemas.openxmlformats.org/drawingml/2006/main">
              <a:ext uri="{FF2B5EF4-FFF2-40B4-BE49-F238E27FC236}">
                <a16:creationId xmlns:a16="http://schemas.microsoft.com/office/drawing/2014/main" id="{B37E0D86-B370-4CF5-944A-463CFFA471F6}"/>
              </a:ext>
            </a:extLst>
          </p:cNvPr>
          <p:cNvSpPr>
            <a:spLocks xmlns:a="http://schemas.openxmlformats.org/drawingml/2006/main" noGrp="1"/>
          </p:cNvSpPr>
          <p:nvPr/>
        </p:nvSpPr>
        <p:spPr>
          <a:xfrm xmlns:a="http://schemas.openxmlformats.org/drawingml/2006/main">
            <a:off x="581025" y="5895975"/>
            <a:ext cx="1047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350" b="1">
                <a:solidFill>
                  <a:srgbClr val="526477"/>
                </a:solidFill>
                <a:latin typeface="Arial"/>
                <a:ea typeface="Arial"/>
                <a:cs typeface="Arial"/>
              </a:defRPr>
            </a:pPr>
            <a:r>
              <a:rPr sz="1350" b="1">
                <a:solidFill>
                  <a:srgbClr val="526477"/>
                </a:solidFill>
                <a:latin typeface="Arial"/>
                <a:ea typeface="Arial"/>
                <a:cs typeface="Arial"/>
              </a:rPr>
              <a:t>Engineers inspect thresholds, export evidence and size resources with the planner.</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44354534-533A-49D1-A113-EB235C92D239}"/>
              </a:ext>
            </a:extLst>
          </p:cNvPr>
          <p:cNvSpPr>
            <a:spLocks xmlns:a="http://schemas.openxmlformats.org/drawingml/2006/main" noGrp="1"/>
          </p:cNvSpPr>
          <p:nvPr>
            <p:ph type="title" idx="0"/>
          </p:nvPr>
        </p:nvSpPr>
        <p:spPr/>
        <p:txBody>
          <a:bodyPr xmlns:a="http://schemas.openxmlformats.org/drawingml/2006/main" anchor="ctr"/>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075D3186-827D-48B3-BF4C-23D5FB1327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613E3328-A680-4BE1-B4D0-967EE5FDCB8A}"/>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a:solidFill>
                  <a:srgbClr val="000000"/>
                </a:solidFill>
                <a:latin typeface="Arial"/>
                <a:ea typeface="Arial"/>
                <a:cs typeface="Arial"/>
              </a:defRPr>
            </a:pPr>
            <a:r>
              <a:rPr sz="1500">
                <a:solidFill>
                  <a:srgbClr val="000000"/>
                </a:solidFill>
                <a:latin typeface="Arial"/>
                <a:ea typeface="Arial"/>
                <a:cs typeface="Arial"/>
              </a:rPr>
              <a:t>Cache Hit</a:t>
            </a:r>
            <a:endParaRPr/>
          </a:p>
        </p:txBody>
      </p:sp>
      <p:pic>
        <p:nvPicPr>
          <p:cNvPr id="17437" name="Picture 11"/>
          <p:cNvPicPr>
            <a:picLocks xmlns:a="http://schemas.openxmlformats.org/drawingml/2006/main" noChangeAspect="1"/>
          </p:cNvPicPr>
          <p:nvPr/>
        </p:nvPicPr>
        <p:blipFill>
          <a:blip xmlns:r="http://schemas.openxmlformats.org/officeDocument/2006/relationships" xmlns:a="http://schemas.openxmlformats.org/drawingml/2006/main" r:embed="R84e9c8f36d584876"/>
          <a:stretch xmlns:a="http://schemas.openxmlformats.org/drawingml/2006/main">
            <a:fillRect l="0" t="0" r="0" b="0"/>
          </a:stretch>
        </p:blipFill>
        <p:spPr>
          <a:xfrm xmlns:a="http://schemas.openxmlformats.org/drawingml/2006/main">
            <a:off x="9780086" y="1500"/>
            <a:ext cx="2249850" cy="1062337"/>
          </a:xfrm>
          <a:prstGeom xmlns:a="http://schemas.openxmlformats.org/drawingml/2006/main" prst="rect">
            <a:avLst/>
          </a:prstGeom>
        </p:spPr>
      </p:pic>
      <p:sp>
        <p:nvSpPr>
          <p:cNvPr id="17412" name="">
            <a:extLst xmlns:a="http://schemas.openxmlformats.org/drawingml/2006/main">
              <a:ext uri="{FF2B5EF4-FFF2-40B4-BE49-F238E27FC236}">
                <a16:creationId xmlns:a16="http://schemas.microsoft.com/office/drawing/2014/main" id="{893E3832-F712-46F3-9E38-82E07AF8795A}"/>
              </a:ext>
            </a:extLst>
          </p:cNvPr>
          <p:cNvSpPr>
            <a:spLocks xmlns:a="http://schemas.openxmlformats.org/drawingml/2006/main" noGrp="1"/>
          </p:cNvSpPr>
          <p:nvPr/>
        </p:nvSpPr>
        <p:spPr>
          <a:xfrm xmlns:a="http://schemas.openxmlformats.org/drawingml/2006/main">
            <a:off x="542925" y="1390650"/>
            <a:ext cx="10763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1">
                <a:solidFill>
                  <a:srgbClr val="224A7B"/>
                </a:solidFill>
                <a:latin typeface="Arial"/>
                <a:ea typeface="Arial"/>
                <a:cs typeface="Arial"/>
              </a:defRPr>
            </a:pPr>
            <a:r>
              <a:rPr sz="2175" b="1">
                <a:solidFill>
                  <a:srgbClr val="224A7B"/>
                </a:solidFill>
                <a:latin typeface="Arial"/>
                <a:ea typeface="Arial"/>
                <a:cs typeface="Arial"/>
              </a:rPr>
              <a:t>Research behind the protocol and simulator</a:t>
            </a:r>
          </a:p>
        </p:txBody>
      </p:sp>
      <p:sp>
        <p:nvSpPr>
          <p:cNvPr id="17413" name="">
            <a:extLst xmlns:a="http://schemas.openxmlformats.org/drawingml/2006/main">
              <a:ext uri="{FF2B5EF4-FFF2-40B4-BE49-F238E27FC236}">
                <a16:creationId xmlns:a16="http://schemas.microsoft.com/office/drawing/2014/main" id="{112A12FE-BC37-432F-8396-F6BCA259F321}"/>
              </a:ext>
            </a:extLst>
          </p:cNvPr>
          <p:cNvSpPr>
            <a:spLocks xmlns:a="http://schemas.openxmlformats.org/drawingml/2006/main" noGrp="1"/>
          </p:cNvSpPr>
          <p:nvPr/>
        </p:nvSpPr>
        <p:spPr>
          <a:xfrm xmlns:a="http://schemas.openxmlformats.org/drawingml/2006/main">
            <a:off x="542925" y="1971675"/>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4" name="">
            <a:extLst xmlns:a="http://schemas.openxmlformats.org/drawingml/2006/main">
              <a:ext uri="{FF2B5EF4-FFF2-40B4-BE49-F238E27FC236}">
                <a16:creationId xmlns:a16="http://schemas.microsoft.com/office/drawing/2014/main" id="{E46A6C6D-F4FC-4853-B6F5-1A5B2016E2A4}"/>
              </a:ext>
            </a:extLst>
          </p:cNvPr>
          <p:cNvSpPr>
            <a:spLocks xmlns:a="http://schemas.openxmlformats.org/drawingml/2006/main" noGrp="1"/>
          </p:cNvSpPr>
          <p:nvPr/>
        </p:nvSpPr>
        <p:spPr>
          <a:xfrm xmlns:a="http://schemas.openxmlformats.org/drawingml/2006/main">
            <a:off x="561975" y="2076450"/>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Wallden et al. (2014)</a:t>
            </a:r>
          </a:p>
        </p:txBody>
      </p:sp>
      <p:sp>
        <p:nvSpPr>
          <p:cNvPr id="17415" name="">
            <a:extLst xmlns:a="http://schemas.openxmlformats.org/drawingml/2006/main">
              <a:ext uri="{FF2B5EF4-FFF2-40B4-BE49-F238E27FC236}">
                <a16:creationId xmlns:a16="http://schemas.microsoft.com/office/drawing/2014/main" id="{D19B5F52-4F3C-40D8-965E-C6890B9C37BE}"/>
              </a:ext>
            </a:extLst>
          </p:cNvPr>
          <p:cNvSpPr>
            <a:spLocks xmlns:a="http://schemas.openxmlformats.org/drawingml/2006/main" noGrp="1"/>
          </p:cNvSpPr>
          <p:nvPr/>
        </p:nvSpPr>
        <p:spPr>
          <a:xfrm xmlns:a="http://schemas.openxmlformats.org/drawingml/2006/main">
            <a:off x="4429125" y="2047875"/>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BB84 QDS, symmetrization and forgery analysis</a:t>
            </a:r>
          </a:p>
        </p:txBody>
      </p:sp>
      <p:sp>
        <p:nvSpPr>
          <p:cNvPr id="17416" name="">
            <a:extLst xmlns:a="http://schemas.openxmlformats.org/drawingml/2006/main">
              <a:ext uri="{FF2B5EF4-FFF2-40B4-BE49-F238E27FC236}">
                <a16:creationId xmlns:a16="http://schemas.microsoft.com/office/drawing/2014/main" id="{3A4C34DD-0443-4C47-88CB-46C206366B6F}"/>
              </a:ext>
            </a:extLst>
          </p:cNvPr>
          <p:cNvSpPr>
            <a:spLocks xmlns:a="http://schemas.openxmlformats.org/drawingml/2006/main" noGrp="1"/>
          </p:cNvSpPr>
          <p:nvPr/>
        </p:nvSpPr>
        <p:spPr>
          <a:xfrm xmlns:a="http://schemas.openxmlformats.org/drawingml/2006/main">
            <a:off x="4429125" y="2352675"/>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rPr>
              <a:t>arxiv.org/abs/1403.5551</a:t>
            </a:r>
          </a:p>
        </p:txBody>
      </p:sp>
      <p:sp>
        <p:nvSpPr>
          <p:cNvPr id="17417" name="">
            <a:extLst xmlns:a="http://schemas.openxmlformats.org/drawingml/2006/main">
              <a:ext uri="{FF2B5EF4-FFF2-40B4-BE49-F238E27FC236}">
                <a16:creationId xmlns:a16="http://schemas.microsoft.com/office/drawing/2014/main" id="{DC785767-B14F-4960-A58C-7948CB769B95}"/>
              </a:ext>
            </a:extLst>
          </p:cNvPr>
          <p:cNvSpPr>
            <a:spLocks xmlns:a="http://schemas.openxmlformats.org/drawingml/2006/main" noGrp="1"/>
          </p:cNvSpPr>
          <p:nvPr/>
        </p:nvSpPr>
        <p:spPr>
          <a:xfrm xmlns:a="http://schemas.openxmlformats.org/drawingml/2006/main">
            <a:off x="542925" y="278130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18" name="">
            <a:extLst xmlns:a="http://schemas.openxmlformats.org/drawingml/2006/main">
              <a:ext uri="{FF2B5EF4-FFF2-40B4-BE49-F238E27FC236}">
                <a16:creationId xmlns:a16="http://schemas.microsoft.com/office/drawing/2014/main" id="{214E912D-F07C-435C-81FC-4E1B9658390C}"/>
              </a:ext>
            </a:extLst>
          </p:cNvPr>
          <p:cNvSpPr>
            <a:spLocks xmlns:a="http://schemas.openxmlformats.org/drawingml/2006/main" noGrp="1"/>
          </p:cNvSpPr>
          <p:nvPr/>
        </p:nvSpPr>
        <p:spPr>
          <a:xfrm xmlns:a="http://schemas.openxmlformats.org/drawingml/2006/main">
            <a:off x="561975" y="2886075"/>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Gottesman &amp; Chuang (2001)</a:t>
            </a:r>
          </a:p>
        </p:txBody>
      </p:sp>
      <p:sp>
        <p:nvSpPr>
          <p:cNvPr id="17419" name="">
            <a:extLst xmlns:a="http://schemas.openxmlformats.org/drawingml/2006/main">
              <a:ext uri="{FF2B5EF4-FFF2-40B4-BE49-F238E27FC236}">
                <a16:creationId xmlns:a16="http://schemas.microsoft.com/office/drawing/2014/main" id="{26C48388-BD56-427D-BD81-CD3DE94F90B0}"/>
              </a:ext>
            </a:extLst>
          </p:cNvPr>
          <p:cNvSpPr>
            <a:spLocks xmlns:a="http://schemas.openxmlformats.org/drawingml/2006/main" noGrp="1"/>
          </p:cNvSpPr>
          <p:nvPr/>
        </p:nvSpPr>
        <p:spPr>
          <a:xfrm xmlns:a="http://schemas.openxmlformats.org/drawingml/2006/main">
            <a:off x="4429125" y="2857500"/>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Foundational quantum digital signatures</a:t>
            </a:r>
          </a:p>
        </p:txBody>
      </p:sp>
      <p:sp>
        <p:nvSpPr>
          <p:cNvPr id="17420" name="">
            <a:extLst xmlns:a="http://schemas.openxmlformats.org/drawingml/2006/main">
              <a:ext uri="{FF2B5EF4-FFF2-40B4-BE49-F238E27FC236}">
                <a16:creationId xmlns:a16="http://schemas.microsoft.com/office/drawing/2014/main" id="{83E48174-C03D-4F09-9851-7DB57C3920CE}"/>
              </a:ext>
            </a:extLst>
          </p:cNvPr>
          <p:cNvSpPr>
            <a:spLocks xmlns:a="http://schemas.openxmlformats.org/drawingml/2006/main" noGrp="1"/>
          </p:cNvSpPr>
          <p:nvPr/>
        </p:nvSpPr>
        <p:spPr>
          <a:xfrm xmlns:a="http://schemas.openxmlformats.org/drawingml/2006/main">
            <a:off x="4429125" y="3162300"/>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rPr>
              <a:t>arxiv.org/abs/quant-ph/0105032</a:t>
            </a:r>
          </a:p>
        </p:txBody>
      </p:sp>
      <p:sp>
        <p:nvSpPr>
          <p:cNvPr id="17421" name="">
            <a:extLst xmlns:a="http://schemas.openxmlformats.org/drawingml/2006/main">
              <a:ext uri="{FF2B5EF4-FFF2-40B4-BE49-F238E27FC236}">
                <a16:creationId xmlns:a16="http://schemas.microsoft.com/office/drawing/2014/main" id="{AABF8FCC-68E0-4B7A-82E2-575B10FE2E6E}"/>
              </a:ext>
            </a:extLst>
          </p:cNvPr>
          <p:cNvSpPr>
            <a:spLocks xmlns:a="http://schemas.openxmlformats.org/drawingml/2006/main" noGrp="1"/>
          </p:cNvSpPr>
          <p:nvPr/>
        </p:nvSpPr>
        <p:spPr>
          <a:xfrm xmlns:a="http://schemas.openxmlformats.org/drawingml/2006/main">
            <a:off x="542925" y="3590925"/>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2" name="">
            <a:extLst xmlns:a="http://schemas.openxmlformats.org/drawingml/2006/main">
              <a:ext uri="{FF2B5EF4-FFF2-40B4-BE49-F238E27FC236}">
                <a16:creationId xmlns:a16="http://schemas.microsoft.com/office/drawing/2014/main" id="{A96DD40A-7E07-4505-9D3B-17A8FE21CE8E}"/>
              </a:ext>
            </a:extLst>
          </p:cNvPr>
          <p:cNvSpPr>
            <a:spLocks xmlns:a="http://schemas.openxmlformats.org/drawingml/2006/main" noGrp="1"/>
          </p:cNvSpPr>
          <p:nvPr/>
        </p:nvSpPr>
        <p:spPr>
          <a:xfrm xmlns:a="http://schemas.openxmlformats.org/drawingml/2006/main">
            <a:off x="561975" y="3695700"/>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Nadeem &amp; Wang (2015)</a:t>
            </a:r>
          </a:p>
        </p:txBody>
      </p:sp>
      <p:sp>
        <p:nvSpPr>
          <p:cNvPr id="17423" name="">
            <a:extLst xmlns:a="http://schemas.openxmlformats.org/drawingml/2006/main">
              <a:ext uri="{FF2B5EF4-FFF2-40B4-BE49-F238E27FC236}">
                <a16:creationId xmlns:a16="http://schemas.microsoft.com/office/drawing/2014/main" id="{B82E6BF5-31F9-43E8-8F58-371FEE735CC7}"/>
              </a:ext>
            </a:extLst>
          </p:cNvPr>
          <p:cNvSpPr>
            <a:spLocks xmlns:a="http://schemas.openxmlformats.org/drawingml/2006/main" noGrp="1"/>
          </p:cNvSpPr>
          <p:nvPr/>
        </p:nvSpPr>
        <p:spPr>
          <a:xfrm xmlns:a="http://schemas.openxmlformats.org/drawingml/2006/main">
            <a:off x="4429125" y="3667125"/>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Teleportation-based QDS research context</a:t>
            </a:r>
          </a:p>
        </p:txBody>
      </p:sp>
      <p:sp>
        <p:nvSpPr>
          <p:cNvPr id="17424" name="">
            <a:extLst xmlns:a="http://schemas.openxmlformats.org/drawingml/2006/main">
              <a:ext uri="{FF2B5EF4-FFF2-40B4-BE49-F238E27FC236}">
                <a16:creationId xmlns:a16="http://schemas.microsoft.com/office/drawing/2014/main" id="{ACB32291-DEC4-4CA6-9E4C-25AEE1F7B200}"/>
              </a:ext>
            </a:extLst>
          </p:cNvPr>
          <p:cNvSpPr>
            <a:spLocks xmlns:a="http://schemas.openxmlformats.org/drawingml/2006/main" noGrp="1"/>
          </p:cNvSpPr>
          <p:nvPr/>
        </p:nvSpPr>
        <p:spPr>
          <a:xfrm xmlns:a="http://schemas.openxmlformats.org/drawingml/2006/main">
            <a:off x="4429125" y="3971925"/>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rPr>
              <a:t>arxiv.org/abs/1507.03581</a:t>
            </a:r>
          </a:p>
        </p:txBody>
      </p:sp>
      <p:sp>
        <p:nvSpPr>
          <p:cNvPr id="17425" name="">
            <a:extLst xmlns:a="http://schemas.openxmlformats.org/drawingml/2006/main">
              <a:ext uri="{FF2B5EF4-FFF2-40B4-BE49-F238E27FC236}">
                <a16:creationId xmlns:a16="http://schemas.microsoft.com/office/drawing/2014/main" id="{D28F5364-EAB1-4CA9-B3A5-D9929B6844FC}"/>
              </a:ext>
            </a:extLst>
          </p:cNvPr>
          <p:cNvSpPr>
            <a:spLocks xmlns:a="http://schemas.openxmlformats.org/drawingml/2006/main" noGrp="1"/>
          </p:cNvSpPr>
          <p:nvPr/>
        </p:nvSpPr>
        <p:spPr>
          <a:xfrm xmlns:a="http://schemas.openxmlformats.org/drawingml/2006/main">
            <a:off x="542925" y="440055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26" name="">
            <a:extLst xmlns:a="http://schemas.openxmlformats.org/drawingml/2006/main">
              <a:ext uri="{FF2B5EF4-FFF2-40B4-BE49-F238E27FC236}">
                <a16:creationId xmlns:a16="http://schemas.microsoft.com/office/drawing/2014/main" id="{9E62B3D9-8930-4593-9B36-ED67C672224A}"/>
              </a:ext>
            </a:extLst>
          </p:cNvPr>
          <p:cNvSpPr>
            <a:spLocks xmlns:a="http://schemas.openxmlformats.org/drawingml/2006/main" noGrp="1"/>
          </p:cNvSpPr>
          <p:nvPr/>
        </p:nvSpPr>
        <p:spPr>
          <a:xfrm xmlns:a="http://schemas.openxmlformats.org/drawingml/2006/main">
            <a:off x="561975" y="4505325"/>
            <a:ext cx="3829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1">
                <a:solidFill>
                  <a:srgbClr val="142F4A"/>
                </a:solidFill>
                <a:latin typeface="Arial"/>
                <a:ea typeface="Arial"/>
                <a:cs typeface="Arial"/>
              </a:defRPr>
            </a:pPr>
            <a:r>
              <a:rPr sz="1575" b="1">
                <a:solidFill>
                  <a:srgbClr val="142F4A"/>
                </a:solidFill>
                <a:latin typeface="Arial"/>
                <a:ea typeface="Arial"/>
                <a:cs typeface="Arial"/>
              </a:rPr>
              <a:t>IBM Quantum Learning</a:t>
            </a:r>
          </a:p>
        </p:txBody>
      </p:sp>
      <p:sp>
        <p:nvSpPr>
          <p:cNvPr id="17427" name="">
            <a:extLst xmlns:a="http://schemas.openxmlformats.org/drawingml/2006/main">
              <a:ext uri="{FF2B5EF4-FFF2-40B4-BE49-F238E27FC236}">
                <a16:creationId xmlns:a16="http://schemas.microsoft.com/office/drawing/2014/main" id="{17D8CFC6-0CBF-4EFB-8724-710B540AFD5D}"/>
              </a:ext>
            </a:extLst>
          </p:cNvPr>
          <p:cNvSpPr>
            <a:spLocks xmlns:a="http://schemas.openxmlformats.org/drawingml/2006/main" noGrp="1"/>
          </p:cNvSpPr>
          <p:nvPr/>
        </p:nvSpPr>
        <p:spPr>
          <a:xfrm xmlns:a="http://schemas.openxmlformats.org/drawingml/2006/main">
            <a:off x="4429125" y="4476750"/>
            <a:ext cx="67722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142F4A"/>
                </a:solidFill>
                <a:latin typeface="Arial"/>
                <a:ea typeface="Arial"/>
                <a:cs typeface="Arial"/>
              </a:defRPr>
            </a:pPr>
            <a:r>
              <a:rPr sz="1425" b="0">
                <a:solidFill>
                  <a:srgbClr val="142F4A"/>
                </a:solidFill>
                <a:latin typeface="Arial"/>
                <a:ea typeface="Arial"/>
                <a:cs typeface="Arial"/>
              </a:rPr>
              <a:t>Bell teleportation and Pauli correction</a:t>
            </a:r>
          </a:p>
        </p:txBody>
      </p:sp>
      <p:sp>
        <p:nvSpPr>
          <p:cNvPr id="17428" name="">
            <a:extLst xmlns:a="http://schemas.openxmlformats.org/drawingml/2006/main">
              <a:ext uri="{FF2B5EF4-FFF2-40B4-BE49-F238E27FC236}">
                <a16:creationId xmlns:a16="http://schemas.microsoft.com/office/drawing/2014/main" id="{D3189A33-23DF-41DF-82D5-3FECF1D327CE}"/>
              </a:ext>
            </a:extLst>
          </p:cNvPr>
          <p:cNvSpPr>
            <a:spLocks xmlns:a="http://schemas.openxmlformats.org/drawingml/2006/main" noGrp="1"/>
          </p:cNvSpPr>
          <p:nvPr/>
        </p:nvSpPr>
        <p:spPr>
          <a:xfrm xmlns:a="http://schemas.openxmlformats.org/drawingml/2006/main">
            <a:off x="4429125" y="4781550"/>
            <a:ext cx="67722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00" b="0">
                <a:solidFill>
                  <a:srgbClr val="0876BE"/>
                </a:solidFill>
                <a:latin typeface="Arial"/>
                <a:ea typeface="Arial"/>
                <a:cs typeface="Arial"/>
              </a:defRPr>
            </a:pPr>
            <a:r>
              <a:rPr sz="1200" b="0">
                <a:solidFill>
                  <a:srgbClr val="0876BE"/>
                </a:solidFill>
                <a:latin typeface="Arial"/>
                <a:ea typeface="Arial"/>
                <a:cs typeface="Arial"/>
              </a:rPr>
              <a:t>quantum.cloud.ibm.com/learning</a:t>
            </a:r>
          </a:p>
        </p:txBody>
      </p:sp>
      <p:sp>
        <p:nvSpPr>
          <p:cNvPr id="17429" name="">
            <a:extLst xmlns:a="http://schemas.openxmlformats.org/drawingml/2006/main">
              <a:ext uri="{FF2B5EF4-FFF2-40B4-BE49-F238E27FC236}">
                <a16:creationId xmlns:a16="http://schemas.microsoft.com/office/drawing/2014/main" id="{9967F8E0-C254-4B94-8C68-508996F073CA}"/>
              </a:ext>
            </a:extLst>
          </p:cNvPr>
          <p:cNvSpPr>
            <a:spLocks xmlns:a="http://schemas.openxmlformats.org/drawingml/2006/main" noGrp="1"/>
          </p:cNvSpPr>
          <p:nvPr/>
        </p:nvSpPr>
        <p:spPr>
          <a:xfrm xmlns:a="http://schemas.openxmlformats.org/drawingml/2006/main">
            <a:off x="542925" y="5219700"/>
            <a:ext cx="10763250" cy="19050"/>
          </a:xfrm>
          <a:prstGeom xmlns:a="http://schemas.openxmlformats.org/drawingml/2006/main" prst="rect">
            <a:avLst/>
          </a:prstGeom>
          <a:solidFill xmlns:a="http://schemas.openxmlformats.org/drawingml/2006/main">
            <a:srgbClr val="D9E4ED"/>
          </a:solidFill>
          <a:ln xmlns:a="http://schemas.openxmlformats.org/drawingml/2006/main" w="0">
            <a:noFill/>
          </a:ln>
        </p:spPr>
      </p:sp>
      <p:sp>
        <p:nvSpPr>
          <p:cNvPr id="17430" name="">
            <a:extLst xmlns:a="http://schemas.openxmlformats.org/drawingml/2006/main">
              <a:ext uri="{FF2B5EF4-FFF2-40B4-BE49-F238E27FC236}">
                <a16:creationId xmlns:a16="http://schemas.microsoft.com/office/drawing/2014/main" id="{9C999FE2-970A-43AC-89F1-C186059D8B9B}"/>
              </a:ext>
            </a:extLst>
          </p:cNvPr>
          <p:cNvSpPr>
            <a:spLocks xmlns:a="http://schemas.openxmlformats.org/drawingml/2006/main" noGrp="1"/>
          </p:cNvSpPr>
          <p:nvPr/>
        </p:nvSpPr>
        <p:spPr>
          <a:xfrm xmlns:a="http://schemas.openxmlformats.org/drawingml/2006/main">
            <a:off x="561975" y="535305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1">
                <a:solidFill>
                  <a:srgbClr val="224A7B"/>
                </a:solidFill>
                <a:latin typeface="Arial"/>
                <a:ea typeface="Arial"/>
                <a:cs typeface="Arial"/>
              </a:defRPr>
            </a:pPr>
            <a:r>
              <a:rPr sz="1425" b="1">
                <a:solidFill>
                  <a:srgbClr val="224A7B"/>
                </a:solidFill>
                <a:latin typeface="Arial"/>
                <a:ea typeface="Arial"/>
                <a:cs typeface="Arial"/>
              </a:rPr>
              <a:t>Prototype and reproducible benchmark: github.com/ayushmaan-16/Q-PRAMAAN</a:t>
            </a:r>
          </a:p>
        </p:txBody>
      </p:sp>
      <p:sp>
        <p:nvSpPr>
          <p:cNvPr id="17431" name="">
            <a:extLst xmlns:a="http://schemas.openxmlformats.org/drawingml/2006/main">
              <a:ext uri="{FF2B5EF4-FFF2-40B4-BE49-F238E27FC236}">
                <a16:creationId xmlns:a16="http://schemas.microsoft.com/office/drawing/2014/main" id="{3DE102BB-302E-4E66-BCA7-34F1BFCF4FED}"/>
              </a:ext>
            </a:extLst>
          </p:cNvPr>
          <p:cNvSpPr>
            <a:spLocks xmlns:a="http://schemas.openxmlformats.org/drawingml/2006/main" noGrp="1"/>
          </p:cNvSpPr>
          <p:nvPr/>
        </p:nvSpPr>
        <p:spPr>
          <a:xfrm xmlns:a="http://schemas.openxmlformats.org/drawingml/2006/main">
            <a:off x="561975" y="5753100"/>
            <a:ext cx="10668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275" b="0">
                <a:solidFill>
                  <a:srgbClr val="526477"/>
                </a:solidFill>
                <a:latin typeface="Arial"/>
                <a:ea typeface="Arial"/>
                <a:cs typeface="Arial"/>
              </a:defRPr>
            </a:pPr>
            <a:r>
              <a:rPr sz="1275" b="0">
                <a:solidFill>
                  <a:srgbClr val="526477"/>
                </a:solidFill>
                <a:latin typeface="Arial"/>
                <a:ea typeface="Arial"/>
                <a:cs typeface="Arial"/>
              </a:rPr>
              <a:t>Scope: software simulation. Physical security depends on protocol, device, randomness, channel and authentication assumptions.</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2026-10-05T18:02:37.3190000Z</dcterms:created>
  <dcterms:modified xsi:type="dcterms:W3CDTF">2026-10-05T18:02:37.3200000Z</dcterms:modified>
</coreProperties>
</file>